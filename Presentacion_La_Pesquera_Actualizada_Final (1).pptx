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6858000" cx="12192000"/>
  <p:notesSz cx="6858000" cy="9144000"/>
  <p:embeddedFontLst>
    <p:embeddedFont>
      <p:font typeface="Work Sans"/>
      <p:regular r:id="rId20"/>
      <p:bold r:id="rId21"/>
      <p:italic r:id="rId22"/>
      <p:boldItalic r:id="rId23"/>
    </p:embeddedFont>
    <p:embeddedFont>
      <p:font typeface="Work Sans SemiBold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8" roundtripDataSignature="AMtx7mjzyqKFUUqZnajt9UfdWVuTOmR+/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WorkSans-regular.fntdata"/><Relationship Id="rId22" Type="http://schemas.openxmlformats.org/officeDocument/2006/relationships/font" Target="fonts/WorkSans-italic.fntdata"/><Relationship Id="rId21" Type="http://schemas.openxmlformats.org/officeDocument/2006/relationships/font" Target="fonts/WorkSans-bold.fntdata"/><Relationship Id="rId24" Type="http://schemas.openxmlformats.org/officeDocument/2006/relationships/font" Target="fonts/WorkSansSemiBold-regular.fntdata"/><Relationship Id="rId23" Type="http://schemas.openxmlformats.org/officeDocument/2006/relationships/font" Target="fonts/WorkSans-bold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WorkSansSemiBold-italic.fntdata"/><Relationship Id="rId25" Type="http://schemas.openxmlformats.org/officeDocument/2006/relationships/font" Target="fonts/WorkSansSemiBold-bold.fntdata"/><Relationship Id="rId28" Type="http://customschemas.google.com/relationships/presentationmetadata" Target="metadata"/><Relationship Id="rId27" Type="http://schemas.openxmlformats.org/officeDocument/2006/relationships/font" Target="fonts/WorkSansSemiBold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1" name="Google Shape;91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2" name="Google Shape;92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0" name="Google Shape;100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1" name="Google Shape;101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5" name="Google Shape;135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6" name="Google Shape;136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6" name="Google Shape;176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7" name="Google Shape;177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0" name="Google Shape;210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1" name="Google Shape;211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8" name="Google Shape;248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US" sz="1200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Visdualizar inventario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200" u="none" cap="non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Control automático del stock disponible</a:t>
            </a:r>
            <a:endParaRPr b="1" sz="1200">
              <a:solidFill>
                <a:srgbClr val="00304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9" name="Google Shape;249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7" name="Google Shape;287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8" name="Google Shape;288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1" name="Google Shape;321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2" name="Google Shape;322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4" name="Google Shape;374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5" name="Google Shape;375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8" name="Google Shape;418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9" name="Google Shape;419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63" name="Google Shape;463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4" name="Google Shape;464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0" name="Google Shape;470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1" name="Google Shape;471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7" name="Google Shape;477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8" name="Google Shape;478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02" name="Google Shape;502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3" name="Google Shape;503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26" name="Google Shape;526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7" name="Google Shape;527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8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8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2" name="Google Shape;22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0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0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EC388"/>
              </a:buClr>
              <a:buSzPts val="2400"/>
              <a:buNone/>
              <a:defRPr sz="2400">
                <a:solidFill>
                  <a:srgbClr val="8EC3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EC388"/>
              </a:buClr>
              <a:buSzPts val="2000"/>
              <a:buNone/>
              <a:defRPr sz="2000">
                <a:solidFill>
                  <a:srgbClr val="8EC3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EC388"/>
              </a:buClr>
              <a:buSzPts val="1800"/>
              <a:buNone/>
              <a:defRPr sz="1800">
                <a:solidFill>
                  <a:srgbClr val="8EC3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EC388"/>
              </a:buClr>
              <a:buSzPts val="1600"/>
              <a:buNone/>
              <a:defRPr sz="1600">
                <a:solidFill>
                  <a:srgbClr val="8EC3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EC388"/>
              </a:buClr>
              <a:buSzPts val="1600"/>
              <a:buNone/>
              <a:defRPr sz="1600">
                <a:solidFill>
                  <a:srgbClr val="8EC3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EC388"/>
              </a:buClr>
              <a:buSzPts val="1600"/>
              <a:buNone/>
              <a:defRPr sz="1600">
                <a:solidFill>
                  <a:srgbClr val="8EC3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EC388"/>
              </a:buClr>
              <a:buSzPts val="1600"/>
              <a:buNone/>
              <a:defRPr sz="1600">
                <a:solidFill>
                  <a:srgbClr val="8EC3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EC388"/>
              </a:buClr>
              <a:buSzPts val="1600"/>
              <a:buNone/>
              <a:defRPr sz="1600">
                <a:solidFill>
                  <a:srgbClr val="8EC3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EC388"/>
              </a:buClr>
              <a:buSzPts val="1600"/>
              <a:buNone/>
              <a:defRPr sz="1600">
                <a:solidFill>
                  <a:srgbClr val="8EC388"/>
                </a:solidFill>
              </a:defRPr>
            </a:lvl9pPr>
          </a:lstStyle>
          <a:p/>
        </p:txBody>
      </p:sp>
      <p:sp>
        <p:nvSpPr>
          <p:cNvPr id="34" name="Google Shape;34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1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21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2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2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22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22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22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4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4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5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5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6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7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7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eño personalizado">
  <p:cSld name="Diseño personalizado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0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Relationship Id="rId5" Type="http://schemas.openxmlformats.org/officeDocument/2006/relationships/image" Target="../media/image1.png"/><Relationship Id="rId6" Type="http://schemas.openxmlformats.org/officeDocument/2006/relationships/image" Target="../media/image7.png"/><Relationship Id="rId7" Type="http://schemas.openxmlformats.org/officeDocument/2006/relationships/image" Target="../media/image4.png"/><Relationship Id="rId8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0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9" Type="http://schemas.openxmlformats.org/officeDocument/2006/relationships/image" Target="../media/image13.png"/><Relationship Id="rId5" Type="http://schemas.openxmlformats.org/officeDocument/2006/relationships/image" Target="../media/image3.png"/><Relationship Id="rId6" Type="http://schemas.openxmlformats.org/officeDocument/2006/relationships/image" Target="../media/image12.png"/><Relationship Id="rId7" Type="http://schemas.openxmlformats.org/officeDocument/2006/relationships/image" Target="../media/image19.png"/><Relationship Id="rId8" Type="http://schemas.openxmlformats.org/officeDocument/2006/relationships/image" Target="../media/image1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2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15.png"/><Relationship Id="rId9" Type="http://schemas.openxmlformats.org/officeDocument/2006/relationships/image" Target="../media/image23.png"/><Relationship Id="rId5" Type="http://schemas.openxmlformats.org/officeDocument/2006/relationships/image" Target="../media/image17.png"/><Relationship Id="rId6" Type="http://schemas.openxmlformats.org/officeDocument/2006/relationships/image" Target="../media/image20.png"/><Relationship Id="rId7" Type="http://schemas.openxmlformats.org/officeDocument/2006/relationships/image" Target="../media/image24.png"/><Relationship Id="rId8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19.png"/><Relationship Id="rId5" Type="http://schemas.openxmlformats.org/officeDocument/2006/relationships/image" Target="../media/image22.png"/><Relationship Id="rId6" Type="http://schemas.openxmlformats.org/officeDocument/2006/relationships/image" Target="../media/image7.png"/><Relationship Id="rId7" Type="http://schemas.openxmlformats.org/officeDocument/2006/relationships/image" Target="../media/image20.png"/><Relationship Id="rId8" Type="http://schemas.openxmlformats.org/officeDocument/2006/relationships/image" Target="../media/image2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25.png"/><Relationship Id="rId5" Type="http://schemas.openxmlformats.org/officeDocument/2006/relationships/image" Target="../media/image15.png"/><Relationship Id="rId6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2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27.png"/><Relationship Id="rId9" Type="http://schemas.openxmlformats.org/officeDocument/2006/relationships/image" Target="../media/image33.png"/><Relationship Id="rId5" Type="http://schemas.openxmlformats.org/officeDocument/2006/relationships/image" Target="../media/image28.png"/><Relationship Id="rId6" Type="http://schemas.openxmlformats.org/officeDocument/2006/relationships/image" Target="../media/image7.png"/><Relationship Id="rId7" Type="http://schemas.openxmlformats.org/officeDocument/2006/relationships/image" Target="../media/image31.png"/><Relationship Id="rId8" Type="http://schemas.openxmlformats.org/officeDocument/2006/relationships/image" Target="../media/image15.png"/></Relationships>
</file>

<file path=ppt/slides/_rels/slide10.xml.rels><?xml version="1.0" encoding="UTF-8" standalone="yes"?><Relationships xmlns="http://schemas.openxmlformats.org/package/2006/relationships"><Relationship Id="rId10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9" Type="http://schemas.openxmlformats.org/officeDocument/2006/relationships/image" Target="../media/image30.png"/><Relationship Id="rId5" Type="http://schemas.openxmlformats.org/officeDocument/2006/relationships/image" Target="../media/image9.png"/><Relationship Id="rId6" Type="http://schemas.openxmlformats.org/officeDocument/2006/relationships/image" Target="../media/image18.png"/><Relationship Id="rId7" Type="http://schemas.openxmlformats.org/officeDocument/2006/relationships/image" Target="../media/image11.png"/><Relationship Id="rId8" Type="http://schemas.openxmlformats.org/officeDocument/2006/relationships/image" Target="../media/image2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Relationship Id="rId4" Type="http://schemas.openxmlformats.org/officeDocument/2006/relationships/image" Target="../media/image3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Relationship Id="rId4" Type="http://schemas.openxmlformats.org/officeDocument/2006/relationships/image" Target="../media/image3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Relationship Id="rId4" Type="http://schemas.openxmlformats.org/officeDocument/2006/relationships/image" Target="../media/image32.png"/><Relationship Id="rId5" Type="http://schemas.openxmlformats.org/officeDocument/2006/relationships/image" Target="../media/image1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Relationship Id="rId4" Type="http://schemas.openxmlformats.org/officeDocument/2006/relationships/image" Target="../media/image17.png"/><Relationship Id="rId5" Type="http://schemas.openxmlformats.org/officeDocument/2006/relationships/image" Target="../media/image24.png"/><Relationship Id="rId6" Type="http://schemas.openxmlformats.org/officeDocument/2006/relationships/image" Target="../media/image2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"/>
          <p:cNvSpPr/>
          <p:nvPr/>
        </p:nvSpPr>
        <p:spPr>
          <a:xfrm>
            <a:off x="842770" y="-380369"/>
            <a:ext cx="9041383" cy="3367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9960"/>
              </a:lnSpc>
              <a:spcBef>
                <a:spcPts val="1694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Arial"/>
              <a:buNone/>
            </a:pPr>
            <a:r>
              <a:rPr b="1" lang="en-US" sz="3600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La Pesquera</a:t>
            </a:r>
            <a:br>
              <a:rPr b="1" lang="en-US" sz="3600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-US" sz="3600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Sistema web de restaurante</a:t>
            </a:r>
            <a:endParaRPr b="1" i="0" sz="5400" u="none" cap="none">
              <a:solidFill>
                <a:srgbClr val="3F3F3F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pic>
        <p:nvPicPr>
          <p:cNvPr id="95" name="Google Shape;95;p1"/>
          <p:cNvPicPr preferRelativeResize="0"/>
          <p:nvPr/>
        </p:nvPicPr>
        <p:blipFill rotWithShape="1">
          <a:blip r:embed="rId4">
            <a:alphaModFix/>
          </a:blip>
          <a:srcRect b="22927" l="24976" r="24976" t="22927"/>
          <a:stretch/>
        </p:blipFill>
        <p:spPr>
          <a:xfrm>
            <a:off x="10207572" y="1055213"/>
            <a:ext cx="923111" cy="90876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"/>
          <p:cNvSpPr/>
          <p:nvPr/>
        </p:nvSpPr>
        <p:spPr>
          <a:xfrm>
            <a:off x="391886" y="296862"/>
            <a:ext cx="2828392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>
                <a:solidFill>
                  <a:srgbClr val="4D4D4C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Proyecto académico</a:t>
            </a:r>
            <a:endParaRPr/>
          </a:p>
        </p:txBody>
      </p:sp>
      <p:sp>
        <p:nvSpPr>
          <p:cNvPr id="97" name="Google Shape;97;p1"/>
          <p:cNvSpPr/>
          <p:nvPr/>
        </p:nvSpPr>
        <p:spPr>
          <a:xfrm>
            <a:off x="1082000" y="3789375"/>
            <a:ext cx="4582500" cy="81378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Samuel Díaz García</a:t>
            </a:r>
            <a:endParaRPr b="0" i="0" sz="1200" u="none" cap="none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Desarrollador</a:t>
            </a:r>
            <a:endParaRPr b="0" i="0" sz="1200" u="none" cap="none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"/>
          <p:cNvSpPr/>
          <p:nvPr/>
        </p:nvSpPr>
        <p:spPr>
          <a:xfrm>
            <a:off x="541015" y="786381"/>
            <a:ext cx="107898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3000"/>
              <a:buFont typeface="Cambria"/>
              <a:buNone/>
            </a:pPr>
            <a:r>
              <a:rPr b="1" lang="en-US" sz="3600">
                <a:solidFill>
                  <a:srgbClr val="38AA00"/>
                </a:solidFill>
                <a:latin typeface="Work Sans"/>
                <a:ea typeface="Work Sans"/>
                <a:cs typeface="Work Sans"/>
                <a:sym typeface="Work Sans"/>
              </a:rPr>
              <a:t>¿Qué es La Pesquera?</a:t>
            </a:r>
            <a:endParaRPr/>
          </a:p>
        </p:txBody>
      </p:sp>
      <p:sp>
        <p:nvSpPr>
          <p:cNvPr id="104" name="Google Shape;104;p2"/>
          <p:cNvSpPr/>
          <p:nvPr/>
        </p:nvSpPr>
        <p:spPr>
          <a:xfrm>
            <a:off x="541015" y="1728213"/>
            <a:ext cx="59436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92E"/>
              </a:buClr>
              <a:buSzPts val="1450"/>
              <a:buFont typeface="Calibri"/>
              <a:buNone/>
            </a:pPr>
            <a:r>
              <a:rPr b="0" i="0" lang="en-US" sz="1450" u="none" cap="none">
                <a:solidFill>
                  <a:srgbClr val="22292E"/>
                </a:solidFill>
                <a:latin typeface="Calibri"/>
                <a:ea typeface="Calibri"/>
                <a:cs typeface="Calibri"/>
                <a:sym typeface="Calibri"/>
              </a:rPr>
              <a:t>Plataforma web para digitalizar la operación de un restaurante: catálogo, pedidos, reservas y domicilios, con módulos para clientes, administración y repartidores.</a:t>
            </a:r>
            <a:endParaRPr b="0" i="0" sz="1450" u="non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2"/>
          <p:cNvSpPr/>
          <p:nvPr/>
        </p:nvSpPr>
        <p:spPr>
          <a:xfrm>
            <a:off x="541015" y="2825493"/>
            <a:ext cx="4572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400"/>
              <a:buFont typeface="Calibri"/>
              <a:buNone/>
            </a:pPr>
            <a:r>
              <a:rPr b="1" i="0" lang="en-US" sz="1400" u="none" cap="none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La plataforma permite:</a:t>
            </a:r>
            <a:endParaRPr b="0" i="0" sz="1400" u="non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2"/>
          <p:cNvSpPr/>
          <p:nvPr/>
        </p:nvSpPr>
        <p:spPr>
          <a:xfrm>
            <a:off x="541015" y="3236973"/>
            <a:ext cx="347400" cy="3474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7" name="Google Shape;107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1358" y="3327316"/>
            <a:ext cx="166787" cy="166787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2"/>
          <p:cNvSpPr/>
          <p:nvPr/>
        </p:nvSpPr>
        <p:spPr>
          <a:xfrm>
            <a:off x="1043935" y="3209541"/>
            <a:ext cx="53034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92E"/>
              </a:buClr>
              <a:buSzPts val="1250"/>
              <a:buFont typeface="Calibri"/>
              <a:buNone/>
            </a:pPr>
            <a:r>
              <a:rPr b="0" i="0" lang="en-US" sz="1250" u="none" cap="none">
                <a:solidFill>
                  <a:srgbClr val="22292E"/>
                </a:solidFill>
                <a:latin typeface="Calibri"/>
                <a:ea typeface="Calibri"/>
                <a:cs typeface="Calibri"/>
                <a:sym typeface="Calibri"/>
              </a:rPr>
              <a:t>Consultar el menú y sus categorías</a:t>
            </a:r>
            <a:endParaRPr b="0" i="0" sz="1250" u="non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2"/>
          <p:cNvSpPr/>
          <p:nvPr/>
        </p:nvSpPr>
        <p:spPr>
          <a:xfrm>
            <a:off x="541015" y="3749037"/>
            <a:ext cx="347400" cy="3474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0" name="Google Shape;110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1358" y="3839380"/>
            <a:ext cx="166787" cy="166787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"/>
          <p:cNvSpPr/>
          <p:nvPr/>
        </p:nvSpPr>
        <p:spPr>
          <a:xfrm>
            <a:off x="1043935" y="3721605"/>
            <a:ext cx="53034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92E"/>
              </a:buClr>
              <a:buSzPts val="1250"/>
              <a:buFont typeface="Calibri"/>
              <a:buNone/>
            </a:pPr>
            <a:r>
              <a:rPr b="0" i="0" lang="en-US" sz="1250" u="none" cap="none">
                <a:solidFill>
                  <a:srgbClr val="22292E"/>
                </a:solidFill>
                <a:latin typeface="Calibri"/>
                <a:ea typeface="Calibri"/>
                <a:cs typeface="Calibri"/>
                <a:sym typeface="Calibri"/>
              </a:rPr>
              <a:t>Agregar productos al carrito y realizar pedidos</a:t>
            </a:r>
            <a:endParaRPr b="0" i="0" sz="1250" u="non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2"/>
          <p:cNvSpPr/>
          <p:nvPr/>
        </p:nvSpPr>
        <p:spPr>
          <a:xfrm>
            <a:off x="541015" y="4285485"/>
            <a:ext cx="347400" cy="3474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3" name="Google Shape;113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1358" y="4375828"/>
            <a:ext cx="166787" cy="166787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2"/>
          <p:cNvSpPr/>
          <p:nvPr/>
        </p:nvSpPr>
        <p:spPr>
          <a:xfrm>
            <a:off x="1043935" y="4258053"/>
            <a:ext cx="53034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92E"/>
              </a:buClr>
              <a:buSzPts val="1250"/>
              <a:buFont typeface="Calibri"/>
              <a:buNone/>
            </a:pPr>
            <a:r>
              <a:rPr b="0" i="0" lang="en-US" sz="1250" u="none" cap="none">
                <a:solidFill>
                  <a:srgbClr val="22292E"/>
                </a:solidFill>
                <a:latin typeface="Calibri"/>
                <a:ea typeface="Calibri"/>
                <a:cs typeface="Calibri"/>
                <a:sym typeface="Calibri"/>
              </a:rPr>
              <a:t>Reservar mesas y solicitar domicilios</a:t>
            </a:r>
            <a:endParaRPr b="0" i="0" sz="1250" u="non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2"/>
          <p:cNvSpPr/>
          <p:nvPr/>
        </p:nvSpPr>
        <p:spPr>
          <a:xfrm>
            <a:off x="6896095" y="1728213"/>
            <a:ext cx="4755000" cy="4617600"/>
          </a:xfrm>
          <a:prstGeom prst="roundRect">
            <a:avLst>
              <a:gd fmla="val 1584" name="adj"/>
            </a:avLst>
          </a:prstGeom>
          <a:solidFill>
            <a:srgbClr val="00304D"/>
          </a:solidFill>
          <a:ln>
            <a:noFill/>
          </a:ln>
          <a:effectLst>
            <a:outerShdw blurRad="101600" rotWithShape="0" algn="bl" dir="5400000" dist="38100">
              <a:srgbClr val="1A1A1A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2"/>
          <p:cNvSpPr/>
          <p:nvPr/>
        </p:nvSpPr>
        <p:spPr>
          <a:xfrm>
            <a:off x="7216135" y="1956813"/>
            <a:ext cx="4114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C300"/>
              </a:buClr>
              <a:buSzPts val="1200"/>
              <a:buFont typeface="Calibri"/>
              <a:buNone/>
            </a:pPr>
            <a:r>
              <a:rPr b="1" i="0" lang="en-US" sz="1200" u="none" cap="none">
                <a:solidFill>
                  <a:srgbClr val="FDC300"/>
                </a:solidFill>
                <a:latin typeface="Calibri"/>
                <a:ea typeface="Calibri"/>
                <a:cs typeface="Calibri"/>
                <a:sym typeface="Calibri"/>
              </a:rPr>
              <a:t>STACK PRINCIPAL</a:t>
            </a:r>
            <a:endParaRPr b="0" i="0" sz="1200" u="non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2"/>
          <p:cNvSpPr/>
          <p:nvPr/>
        </p:nvSpPr>
        <p:spPr>
          <a:xfrm>
            <a:off x="7216135" y="2414013"/>
            <a:ext cx="502800" cy="5028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8" name="Google Shape;118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346894" y="2544772"/>
            <a:ext cx="241402" cy="241402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2"/>
          <p:cNvSpPr/>
          <p:nvPr/>
        </p:nvSpPr>
        <p:spPr>
          <a:xfrm>
            <a:off x="7901935" y="2414013"/>
            <a:ext cx="3566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Frontend</a:t>
            </a:r>
            <a:endParaRPr b="0" i="0" sz="1300" u="non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2"/>
          <p:cNvSpPr/>
          <p:nvPr/>
        </p:nvSpPr>
        <p:spPr>
          <a:xfrm>
            <a:off x="7901935" y="2679189"/>
            <a:ext cx="3566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CBD6"/>
              </a:buClr>
              <a:buSzPts val="1100"/>
              <a:buFont typeface="Calibri"/>
              <a:buNone/>
            </a:pPr>
            <a:r>
              <a:rPr b="0" i="0" lang="en-US" sz="1100" u="none" cap="none">
                <a:solidFill>
                  <a:srgbClr val="B9CBD6"/>
                </a:solidFill>
                <a:latin typeface="Calibri"/>
                <a:ea typeface="Calibri"/>
                <a:cs typeface="Calibri"/>
                <a:sym typeface="Calibri"/>
              </a:rPr>
              <a:t>HTML5, CSS3, JavaScript y Bootstrap 5</a:t>
            </a:r>
            <a:endParaRPr b="0" i="0" sz="1100" u="non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2"/>
          <p:cNvSpPr/>
          <p:nvPr/>
        </p:nvSpPr>
        <p:spPr>
          <a:xfrm>
            <a:off x="7216135" y="3200396"/>
            <a:ext cx="502800" cy="5028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2" name="Google Shape;122;p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346894" y="3331156"/>
            <a:ext cx="241402" cy="241402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2"/>
          <p:cNvSpPr/>
          <p:nvPr/>
        </p:nvSpPr>
        <p:spPr>
          <a:xfrm>
            <a:off x="7901935" y="3200396"/>
            <a:ext cx="3566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Backend</a:t>
            </a:r>
            <a:endParaRPr b="0" i="0" sz="1300" u="non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2"/>
          <p:cNvSpPr/>
          <p:nvPr/>
        </p:nvSpPr>
        <p:spPr>
          <a:xfrm>
            <a:off x="7901935" y="3465573"/>
            <a:ext cx="3566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CBD6"/>
              </a:buClr>
              <a:buSzPts val="1100"/>
              <a:buFont typeface="Calibri"/>
              <a:buNone/>
            </a:pPr>
            <a:r>
              <a:rPr b="0" i="0" lang="en-US" sz="1100" u="none" cap="none">
                <a:solidFill>
                  <a:srgbClr val="B9CBD6"/>
                </a:solidFill>
                <a:latin typeface="Calibri"/>
                <a:ea typeface="Calibri"/>
                <a:cs typeface="Calibri"/>
                <a:sym typeface="Calibri"/>
              </a:rPr>
              <a:t>PHP 8 sin framework</a:t>
            </a:r>
            <a:endParaRPr b="0" i="0" sz="1100" u="non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2"/>
          <p:cNvSpPr/>
          <p:nvPr/>
        </p:nvSpPr>
        <p:spPr>
          <a:xfrm>
            <a:off x="7216135" y="3986781"/>
            <a:ext cx="502800" cy="5028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6" name="Google Shape;126;p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346894" y="4117540"/>
            <a:ext cx="241402" cy="241402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2"/>
          <p:cNvSpPr/>
          <p:nvPr/>
        </p:nvSpPr>
        <p:spPr>
          <a:xfrm>
            <a:off x="7901935" y="3986781"/>
            <a:ext cx="3566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Base de datos</a:t>
            </a:r>
            <a:endParaRPr b="0" i="0" sz="1300" u="non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2"/>
          <p:cNvSpPr/>
          <p:nvPr/>
        </p:nvSpPr>
        <p:spPr>
          <a:xfrm>
            <a:off x="7901935" y="4251957"/>
            <a:ext cx="3566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CBD6"/>
              </a:buClr>
              <a:buSzPts val="1100"/>
              <a:buFont typeface="Calibri"/>
              <a:buNone/>
            </a:pPr>
            <a:r>
              <a:rPr b="0" i="0" lang="en-US" sz="1100" u="none" cap="none">
                <a:solidFill>
                  <a:srgbClr val="B9CBD6"/>
                </a:solidFill>
                <a:latin typeface="Calibri"/>
                <a:ea typeface="Calibri"/>
                <a:cs typeface="Calibri"/>
                <a:sym typeface="Calibri"/>
              </a:rPr>
              <a:t>MySQL con MySQLi y SSL</a:t>
            </a:r>
            <a:endParaRPr b="0" i="0" sz="1100" u="non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2"/>
          <p:cNvSpPr/>
          <p:nvPr/>
        </p:nvSpPr>
        <p:spPr>
          <a:xfrm>
            <a:off x="7216135" y="4773165"/>
            <a:ext cx="502800" cy="5028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0" name="Google Shape;130;p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346894" y="4903924"/>
            <a:ext cx="241402" cy="241402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2"/>
          <p:cNvSpPr/>
          <p:nvPr/>
        </p:nvSpPr>
        <p:spPr>
          <a:xfrm>
            <a:off x="7901935" y="4773165"/>
            <a:ext cx="3566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Servicios externos</a:t>
            </a:r>
            <a:endParaRPr b="0" i="0" sz="1300" u="non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2"/>
          <p:cNvSpPr/>
          <p:nvPr/>
        </p:nvSpPr>
        <p:spPr>
          <a:xfrm>
            <a:off x="7901935" y="5038341"/>
            <a:ext cx="3566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CBD6"/>
              </a:buClr>
              <a:buSzPts val="1100"/>
              <a:buFont typeface="Calibri"/>
              <a:buNone/>
            </a:pPr>
            <a:r>
              <a:rPr b="0" i="0" lang="en-US" sz="1100" u="none" cap="none">
                <a:solidFill>
                  <a:srgbClr val="B9CBD6"/>
                </a:solidFill>
                <a:latin typeface="Calibri"/>
                <a:ea typeface="Calibri"/>
                <a:cs typeface="Calibri"/>
                <a:sym typeface="Calibri"/>
              </a:rPr>
              <a:t>PHPMailer, GitHub Actions y Azure App Service</a:t>
            </a:r>
            <a:endParaRPr b="0" i="0" sz="1100" u="non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"/>
          <p:cNvSpPr/>
          <p:nvPr/>
        </p:nvSpPr>
        <p:spPr>
          <a:xfrm>
            <a:off x="548640" y="658368"/>
            <a:ext cx="107898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3000"/>
              <a:buFont typeface="Cambria"/>
              <a:buNone/>
            </a:pPr>
            <a:r>
              <a:rPr b="1" lang="en-US" sz="3600">
                <a:solidFill>
                  <a:srgbClr val="38AA00"/>
                </a:solidFill>
                <a:latin typeface="Work Sans"/>
                <a:ea typeface="Work Sans"/>
                <a:cs typeface="Work Sans"/>
                <a:sym typeface="Work Sans"/>
              </a:rPr>
              <a:t>Agenda de la sustentación</a:t>
            </a:r>
            <a:endParaRPr/>
          </a:p>
        </p:txBody>
      </p:sp>
      <p:sp>
        <p:nvSpPr>
          <p:cNvPr id="139" name="Google Shape;139;p3"/>
          <p:cNvSpPr/>
          <p:nvPr/>
        </p:nvSpPr>
        <p:spPr>
          <a:xfrm>
            <a:off x="548640" y="1691640"/>
            <a:ext cx="5143500" cy="841200"/>
          </a:xfrm>
          <a:prstGeom prst="roundRect">
            <a:avLst>
              <a:gd fmla="val 8696" name="adj"/>
            </a:avLst>
          </a:prstGeom>
          <a:solidFill>
            <a:srgbClr val="F6F6F6"/>
          </a:solidFill>
          <a:ln>
            <a:noFill/>
          </a:ln>
          <a:effectLst>
            <a:outerShdw blurRad="101600" rotWithShape="0" algn="bl" dir="5400000" dist="38100">
              <a:srgbClr val="1A1A1A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3"/>
          <p:cNvSpPr/>
          <p:nvPr/>
        </p:nvSpPr>
        <p:spPr>
          <a:xfrm>
            <a:off x="713232" y="1856232"/>
            <a:ext cx="512100" cy="5121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1" name="Google Shape;141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6369" y="1989369"/>
            <a:ext cx="245791" cy="245791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3"/>
          <p:cNvSpPr/>
          <p:nvPr/>
        </p:nvSpPr>
        <p:spPr>
          <a:xfrm>
            <a:off x="1371600" y="1801368"/>
            <a:ext cx="41835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500"/>
              <a:buFont typeface="Calibri"/>
              <a:buNone/>
            </a:pPr>
            <a:r>
              <a:rPr b="1" i="0" lang="en-US" sz="1500" u="none" cap="none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Resumen y objetivos</a:t>
            </a:r>
            <a:endParaRPr b="0" i="0" sz="1500" u="non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3"/>
          <p:cNvSpPr/>
          <p:nvPr/>
        </p:nvSpPr>
        <p:spPr>
          <a:xfrm>
            <a:off x="1371600" y="2112264"/>
            <a:ext cx="4183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100"/>
              <a:buFont typeface="Calibri"/>
              <a:buNone/>
            </a:pPr>
            <a:r>
              <a:rPr b="0" i="0" lang="en-US" sz="1100" u="none" cap="non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La solución y los objetivos del sistema</a:t>
            </a:r>
            <a:endParaRPr b="0" i="0" sz="1100" u="non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3"/>
          <p:cNvSpPr/>
          <p:nvPr/>
        </p:nvSpPr>
        <p:spPr>
          <a:xfrm>
            <a:off x="6012180" y="1691640"/>
            <a:ext cx="5143500" cy="841200"/>
          </a:xfrm>
          <a:prstGeom prst="roundRect">
            <a:avLst>
              <a:gd fmla="val 8696" name="adj"/>
            </a:avLst>
          </a:prstGeom>
          <a:solidFill>
            <a:srgbClr val="F6F6F6"/>
          </a:solidFill>
          <a:ln>
            <a:noFill/>
          </a:ln>
          <a:effectLst>
            <a:outerShdw blurRad="101600" rotWithShape="0" algn="bl" dir="5400000" dist="38100">
              <a:srgbClr val="1A1A1A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3"/>
          <p:cNvSpPr/>
          <p:nvPr/>
        </p:nvSpPr>
        <p:spPr>
          <a:xfrm>
            <a:off x="6176772" y="1856232"/>
            <a:ext cx="512100" cy="5121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6" name="Google Shape;146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09909" y="1989369"/>
            <a:ext cx="245791" cy="245791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3"/>
          <p:cNvSpPr/>
          <p:nvPr/>
        </p:nvSpPr>
        <p:spPr>
          <a:xfrm>
            <a:off x="6835140" y="1801368"/>
            <a:ext cx="41835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500"/>
              <a:buFont typeface="Calibri"/>
              <a:buNone/>
            </a:pPr>
            <a:r>
              <a:rPr b="1" i="0" lang="en-US" sz="1500" u="none" cap="none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Problema y justificación</a:t>
            </a:r>
            <a:endParaRPr b="0" i="0" sz="1500" u="non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3"/>
          <p:cNvSpPr/>
          <p:nvPr/>
        </p:nvSpPr>
        <p:spPr>
          <a:xfrm>
            <a:off x="6835140" y="2112264"/>
            <a:ext cx="4183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100"/>
              <a:buFont typeface="Calibri"/>
              <a:buNone/>
            </a:pPr>
            <a:r>
              <a:rPr b="0" i="0" lang="en-US" sz="1100" u="none" cap="non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Problemas que resuelve La Pesquera</a:t>
            </a:r>
            <a:endParaRPr b="0" i="0" sz="1100" u="non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3"/>
          <p:cNvSpPr/>
          <p:nvPr/>
        </p:nvSpPr>
        <p:spPr>
          <a:xfrm>
            <a:off x="548640" y="2734056"/>
            <a:ext cx="5143500" cy="841200"/>
          </a:xfrm>
          <a:prstGeom prst="roundRect">
            <a:avLst>
              <a:gd fmla="val 8696" name="adj"/>
            </a:avLst>
          </a:prstGeom>
          <a:solidFill>
            <a:srgbClr val="F6F6F6"/>
          </a:solidFill>
          <a:ln>
            <a:noFill/>
          </a:ln>
          <a:effectLst>
            <a:outerShdw blurRad="101600" rotWithShape="0" algn="bl" dir="5400000" dist="38100">
              <a:srgbClr val="1A1A1A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3"/>
          <p:cNvSpPr/>
          <p:nvPr/>
        </p:nvSpPr>
        <p:spPr>
          <a:xfrm>
            <a:off x="713232" y="2898648"/>
            <a:ext cx="512100" cy="5121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1" name="Google Shape;151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46369" y="3031785"/>
            <a:ext cx="245791" cy="245791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3"/>
          <p:cNvSpPr/>
          <p:nvPr/>
        </p:nvSpPr>
        <p:spPr>
          <a:xfrm>
            <a:off x="1371600" y="2843784"/>
            <a:ext cx="41835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500"/>
              <a:buFont typeface="Calibri"/>
              <a:buNone/>
            </a:pPr>
            <a:r>
              <a:rPr b="1" i="0" lang="en-US" sz="1500" u="none" cap="none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Alcance y metodología</a:t>
            </a:r>
            <a:endParaRPr b="0" i="0" sz="1500" u="non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3"/>
          <p:cNvSpPr/>
          <p:nvPr/>
        </p:nvSpPr>
        <p:spPr>
          <a:xfrm>
            <a:off x="1371600" y="3154680"/>
            <a:ext cx="4183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100"/>
              <a:buFont typeface="Calibri"/>
              <a:buNone/>
            </a:pPr>
            <a:r>
              <a:rPr b="0" i="0" lang="en-US" sz="1100" u="none" cap="non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Módulos incluidos y proceso de desarrollo</a:t>
            </a:r>
            <a:endParaRPr b="0" i="0" sz="1100" u="non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3"/>
          <p:cNvSpPr/>
          <p:nvPr/>
        </p:nvSpPr>
        <p:spPr>
          <a:xfrm>
            <a:off x="6012180" y="2734056"/>
            <a:ext cx="5143500" cy="841200"/>
          </a:xfrm>
          <a:prstGeom prst="roundRect">
            <a:avLst>
              <a:gd fmla="val 8696" name="adj"/>
            </a:avLst>
          </a:prstGeom>
          <a:solidFill>
            <a:srgbClr val="F6F6F6"/>
          </a:solidFill>
          <a:ln>
            <a:noFill/>
          </a:ln>
          <a:effectLst>
            <a:outerShdw blurRad="101600" rotWithShape="0" algn="bl" dir="5400000" dist="38100">
              <a:srgbClr val="1A1A1A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3"/>
          <p:cNvSpPr/>
          <p:nvPr/>
        </p:nvSpPr>
        <p:spPr>
          <a:xfrm>
            <a:off x="6176772" y="2898648"/>
            <a:ext cx="512100" cy="5121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6" name="Google Shape;156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09909" y="3031785"/>
            <a:ext cx="245791" cy="245791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3"/>
          <p:cNvSpPr/>
          <p:nvPr/>
        </p:nvSpPr>
        <p:spPr>
          <a:xfrm>
            <a:off x="6835140" y="2843784"/>
            <a:ext cx="41835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500"/>
              <a:buFont typeface="Calibri"/>
              <a:buNone/>
            </a:pPr>
            <a:r>
              <a:rPr b="1" i="0" lang="en-US" sz="1500" u="none" cap="none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Requerimientos (IEEE 830)</a:t>
            </a:r>
            <a:endParaRPr b="0" i="0" sz="1500" u="non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3"/>
          <p:cNvSpPr/>
          <p:nvPr/>
        </p:nvSpPr>
        <p:spPr>
          <a:xfrm>
            <a:off x="6835140" y="3154680"/>
            <a:ext cx="4183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100"/>
              <a:buFont typeface="Calibri"/>
              <a:buNone/>
            </a:pPr>
            <a:r>
              <a:rPr b="0" i="0" lang="en-US" sz="1100" u="none" cap="non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Funcionalidades esenciales del sistema</a:t>
            </a:r>
            <a:endParaRPr b="0" i="0" sz="1100" u="non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3"/>
          <p:cNvSpPr/>
          <p:nvPr/>
        </p:nvSpPr>
        <p:spPr>
          <a:xfrm>
            <a:off x="548640" y="3776472"/>
            <a:ext cx="5143500" cy="841200"/>
          </a:xfrm>
          <a:prstGeom prst="roundRect">
            <a:avLst>
              <a:gd fmla="val 8696" name="adj"/>
            </a:avLst>
          </a:prstGeom>
          <a:solidFill>
            <a:srgbClr val="F6F6F6"/>
          </a:solidFill>
          <a:ln>
            <a:noFill/>
          </a:ln>
          <a:effectLst>
            <a:outerShdw blurRad="101600" rotWithShape="0" algn="bl" dir="5400000" dist="38100">
              <a:srgbClr val="1A1A1A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3"/>
          <p:cNvSpPr/>
          <p:nvPr/>
        </p:nvSpPr>
        <p:spPr>
          <a:xfrm>
            <a:off x="713232" y="3941064"/>
            <a:ext cx="512100" cy="5121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1" name="Google Shape;161;p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46369" y="4074201"/>
            <a:ext cx="245791" cy="245791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3"/>
          <p:cNvSpPr/>
          <p:nvPr/>
        </p:nvSpPr>
        <p:spPr>
          <a:xfrm>
            <a:off x="1371600" y="3886200"/>
            <a:ext cx="41835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500"/>
              <a:buFont typeface="Calibri"/>
              <a:buNone/>
            </a:pPr>
            <a:r>
              <a:rPr b="1" i="0" lang="en-US" sz="1500" u="none" cap="none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Arquitectura y stack</a:t>
            </a:r>
            <a:endParaRPr b="0" i="0" sz="1500" u="non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3"/>
          <p:cNvSpPr/>
          <p:nvPr/>
        </p:nvSpPr>
        <p:spPr>
          <a:xfrm>
            <a:off x="1371600" y="4197096"/>
            <a:ext cx="4183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100"/>
              <a:buFont typeface="Calibri"/>
              <a:buNone/>
            </a:pPr>
            <a:r>
              <a:rPr b="0" i="0" lang="en-US" sz="1100" u="none" cap="non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PHP, MySQL, Bootstrap y despliegue en Azure</a:t>
            </a:r>
            <a:endParaRPr b="0" i="0" sz="1100" u="non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3"/>
          <p:cNvSpPr/>
          <p:nvPr/>
        </p:nvSpPr>
        <p:spPr>
          <a:xfrm>
            <a:off x="6012180" y="3776472"/>
            <a:ext cx="5143500" cy="841200"/>
          </a:xfrm>
          <a:prstGeom prst="roundRect">
            <a:avLst>
              <a:gd fmla="val 8696" name="adj"/>
            </a:avLst>
          </a:prstGeom>
          <a:solidFill>
            <a:srgbClr val="F6F6F6"/>
          </a:solidFill>
          <a:ln>
            <a:noFill/>
          </a:ln>
          <a:effectLst>
            <a:outerShdw blurRad="101600" rotWithShape="0" algn="bl" dir="5400000" dist="38100">
              <a:srgbClr val="1A1A1A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3"/>
          <p:cNvSpPr/>
          <p:nvPr/>
        </p:nvSpPr>
        <p:spPr>
          <a:xfrm>
            <a:off x="6176772" y="3941064"/>
            <a:ext cx="512100" cy="5121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6" name="Google Shape;166;p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309909" y="4074201"/>
            <a:ext cx="245791" cy="245791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3"/>
          <p:cNvSpPr/>
          <p:nvPr/>
        </p:nvSpPr>
        <p:spPr>
          <a:xfrm>
            <a:off x="6835140" y="3886200"/>
            <a:ext cx="41835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500"/>
              <a:buFont typeface="Calibri"/>
              <a:buNone/>
            </a:pPr>
            <a:r>
              <a:rPr b="1" i="0" lang="en-US" sz="1500" u="none" cap="none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Interfaz y demo</a:t>
            </a:r>
            <a:endParaRPr b="0" i="0" sz="1500" u="non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3"/>
          <p:cNvSpPr/>
          <p:nvPr/>
        </p:nvSpPr>
        <p:spPr>
          <a:xfrm>
            <a:off x="6835140" y="4197096"/>
            <a:ext cx="4183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100"/>
              <a:buFont typeface="Calibri"/>
              <a:buNone/>
            </a:pPr>
            <a:r>
              <a:rPr b="0" i="0" lang="en-US" sz="1100" u="none" cap="non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Recorrido por las pantallas del sistema</a:t>
            </a:r>
            <a:endParaRPr b="0" i="0" sz="1100" u="non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3"/>
          <p:cNvSpPr/>
          <p:nvPr/>
        </p:nvSpPr>
        <p:spPr>
          <a:xfrm>
            <a:off x="548640" y="4818888"/>
            <a:ext cx="5143500" cy="841200"/>
          </a:xfrm>
          <a:prstGeom prst="roundRect">
            <a:avLst>
              <a:gd fmla="val 8696" name="adj"/>
            </a:avLst>
          </a:prstGeom>
          <a:solidFill>
            <a:srgbClr val="F6F6F6"/>
          </a:solidFill>
          <a:ln>
            <a:noFill/>
          </a:ln>
          <a:effectLst>
            <a:outerShdw blurRad="101600" rotWithShape="0" algn="bl" dir="5400000" dist="38100">
              <a:srgbClr val="1A1A1A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3"/>
          <p:cNvSpPr/>
          <p:nvPr/>
        </p:nvSpPr>
        <p:spPr>
          <a:xfrm>
            <a:off x="713232" y="4983480"/>
            <a:ext cx="512100" cy="5121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1" name="Google Shape;171;p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46369" y="5116617"/>
            <a:ext cx="245791" cy="245791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3"/>
          <p:cNvSpPr/>
          <p:nvPr/>
        </p:nvSpPr>
        <p:spPr>
          <a:xfrm>
            <a:off x="1371600" y="4928616"/>
            <a:ext cx="41835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500"/>
              <a:buFont typeface="Calibri"/>
              <a:buNone/>
            </a:pPr>
            <a:r>
              <a:rPr b="1" i="0" lang="en-US" sz="1500" u="none" cap="none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Pruebas y conclusiones</a:t>
            </a:r>
            <a:endParaRPr b="0" i="0" sz="1500" u="non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3"/>
          <p:cNvSpPr/>
          <p:nvPr/>
        </p:nvSpPr>
        <p:spPr>
          <a:xfrm>
            <a:off x="1371600" y="5239512"/>
            <a:ext cx="4183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100"/>
              <a:buFont typeface="Calibri"/>
              <a:buNone/>
            </a:pPr>
            <a:r>
              <a:rPr b="0" i="0" lang="en-US" sz="1100" u="none" cap="non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Cómo validamos la calidad del software</a:t>
            </a:r>
            <a:endParaRPr b="0" i="0" sz="1100" u="non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4"/>
          <p:cNvSpPr/>
          <p:nvPr/>
        </p:nvSpPr>
        <p:spPr>
          <a:xfrm>
            <a:off x="541015" y="658368"/>
            <a:ext cx="107898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3000"/>
              <a:buFont typeface="Cambria"/>
              <a:buNone/>
            </a:pPr>
            <a:r>
              <a:rPr b="1" lang="en-US" sz="3600">
                <a:solidFill>
                  <a:srgbClr val="38AA00"/>
                </a:solidFill>
                <a:latin typeface="Work Sans"/>
                <a:ea typeface="Work Sans"/>
                <a:cs typeface="Work Sans"/>
                <a:sym typeface="Work Sans"/>
              </a:rPr>
              <a:t>Planteamiento del problema</a:t>
            </a:r>
            <a:endParaRPr/>
          </a:p>
        </p:txBody>
      </p:sp>
      <p:sp>
        <p:nvSpPr>
          <p:cNvPr id="180" name="Google Shape;180;p4"/>
          <p:cNvSpPr/>
          <p:nvPr/>
        </p:nvSpPr>
        <p:spPr>
          <a:xfrm>
            <a:off x="541015" y="1645920"/>
            <a:ext cx="5120700" cy="4480500"/>
          </a:xfrm>
          <a:prstGeom prst="roundRect">
            <a:avLst>
              <a:gd fmla="val 1633" name="adj"/>
            </a:avLst>
          </a:prstGeom>
          <a:solidFill>
            <a:srgbClr val="F6F6F6"/>
          </a:solidFill>
          <a:ln>
            <a:noFill/>
          </a:ln>
          <a:effectLst>
            <a:outerShdw blurRad="101600" rotWithShape="0" algn="bl" dir="5400000" dist="38100">
              <a:srgbClr val="1A1A1A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4"/>
          <p:cNvSpPr/>
          <p:nvPr/>
        </p:nvSpPr>
        <p:spPr>
          <a:xfrm>
            <a:off x="861055" y="1874520"/>
            <a:ext cx="4572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600"/>
              <a:buFont typeface="Calibri"/>
              <a:buNone/>
            </a:pPr>
            <a:r>
              <a:rPr b="1" i="0" lang="en-US" sz="1600" u="none" cap="none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Procesos dispersos del restaurante</a:t>
            </a:r>
            <a:endParaRPr b="0" i="0" sz="1600" u="non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4"/>
          <p:cNvSpPr/>
          <p:nvPr/>
        </p:nvSpPr>
        <p:spPr>
          <a:xfrm>
            <a:off x="861055" y="2331720"/>
            <a:ext cx="292500" cy="292500"/>
          </a:xfrm>
          <a:prstGeom prst="ellipse">
            <a:avLst/>
          </a:prstGeom>
          <a:solidFill>
            <a:srgbClr val="C74E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3" name="Google Shape;183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7133" y="2407798"/>
            <a:ext cx="140452" cy="140452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4"/>
          <p:cNvSpPr/>
          <p:nvPr/>
        </p:nvSpPr>
        <p:spPr>
          <a:xfrm>
            <a:off x="1290823" y="2295144"/>
            <a:ext cx="4251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92E"/>
              </a:buClr>
              <a:buSzPts val="1150"/>
              <a:buFont typeface="Calibri"/>
              <a:buNone/>
            </a:pPr>
            <a:r>
              <a:rPr b="0" i="0" lang="en-US" sz="1150" u="none" cap="none">
                <a:solidFill>
                  <a:srgbClr val="22292E"/>
                </a:solidFill>
                <a:latin typeface="Calibri"/>
                <a:ea typeface="Calibri"/>
                <a:cs typeface="Calibri"/>
                <a:sym typeface="Calibri"/>
              </a:rPr>
              <a:t>Los pedidos, reservas y domicilios pueden registrarse en canales distintos o de manera manual.</a:t>
            </a:r>
            <a:endParaRPr b="0" i="0" sz="1150" u="non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4"/>
          <p:cNvSpPr/>
          <p:nvPr/>
        </p:nvSpPr>
        <p:spPr>
          <a:xfrm>
            <a:off x="861055" y="2866644"/>
            <a:ext cx="292500" cy="292500"/>
          </a:xfrm>
          <a:prstGeom prst="ellipse">
            <a:avLst/>
          </a:prstGeom>
          <a:solidFill>
            <a:srgbClr val="C74E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6" name="Google Shape;186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7133" y="2942722"/>
            <a:ext cx="140452" cy="140452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4"/>
          <p:cNvSpPr/>
          <p:nvPr/>
        </p:nvSpPr>
        <p:spPr>
          <a:xfrm>
            <a:off x="1290823" y="2830068"/>
            <a:ext cx="4251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92E"/>
              </a:buClr>
              <a:buSzPts val="1150"/>
              <a:buFont typeface="Calibri"/>
              <a:buNone/>
            </a:pPr>
            <a:r>
              <a:rPr b="0" i="0" lang="en-US" sz="1150" u="none" cap="none">
                <a:solidFill>
                  <a:srgbClr val="22292E"/>
                </a:solidFill>
                <a:latin typeface="Calibri"/>
                <a:ea typeface="Calibri"/>
                <a:cs typeface="Calibri"/>
                <a:sym typeface="Calibri"/>
              </a:rPr>
              <a:t>Información distribuida entre pedidos, reservas y entregas</a:t>
            </a:r>
            <a:endParaRPr b="0" i="0" sz="1150" u="non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4"/>
          <p:cNvSpPr/>
          <p:nvPr/>
        </p:nvSpPr>
        <p:spPr>
          <a:xfrm>
            <a:off x="861055" y="3401568"/>
            <a:ext cx="292500" cy="292500"/>
          </a:xfrm>
          <a:prstGeom prst="ellipse">
            <a:avLst/>
          </a:prstGeom>
          <a:solidFill>
            <a:srgbClr val="C74E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9" name="Google Shape;189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7133" y="3477646"/>
            <a:ext cx="140452" cy="140452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4"/>
          <p:cNvSpPr/>
          <p:nvPr/>
        </p:nvSpPr>
        <p:spPr>
          <a:xfrm>
            <a:off x="1290823" y="3364992"/>
            <a:ext cx="4251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92E"/>
              </a:buClr>
              <a:buSzPts val="1150"/>
              <a:buFont typeface="Calibri"/>
              <a:buNone/>
            </a:pPr>
            <a:r>
              <a:rPr b="0" i="0" lang="en-US" sz="1150" u="none" cap="none">
                <a:solidFill>
                  <a:srgbClr val="22292E"/>
                </a:solidFill>
                <a:latin typeface="Calibri"/>
                <a:ea typeface="Calibri"/>
                <a:cs typeface="Calibri"/>
                <a:sym typeface="Calibri"/>
              </a:rPr>
              <a:t>Dificultad para administrar el menú y los productos</a:t>
            </a:r>
            <a:endParaRPr b="0" i="0" sz="1150" u="non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4"/>
          <p:cNvSpPr/>
          <p:nvPr/>
        </p:nvSpPr>
        <p:spPr>
          <a:xfrm>
            <a:off x="861055" y="3936492"/>
            <a:ext cx="292500" cy="292500"/>
          </a:xfrm>
          <a:prstGeom prst="ellipse">
            <a:avLst/>
          </a:prstGeom>
          <a:solidFill>
            <a:srgbClr val="C74E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2" name="Google Shape;192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7133" y="4012570"/>
            <a:ext cx="140452" cy="140452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4"/>
          <p:cNvSpPr/>
          <p:nvPr/>
        </p:nvSpPr>
        <p:spPr>
          <a:xfrm>
            <a:off x="1290823" y="3899916"/>
            <a:ext cx="4251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92E"/>
              </a:buClr>
              <a:buSzPts val="1150"/>
              <a:buFont typeface="Calibri"/>
              <a:buNone/>
            </a:pPr>
            <a:r>
              <a:rPr b="0" i="0" lang="en-US" sz="1150" u="none" cap="none">
                <a:solidFill>
                  <a:srgbClr val="22292E"/>
                </a:solidFill>
                <a:latin typeface="Calibri"/>
                <a:ea typeface="Calibri"/>
                <a:cs typeface="Calibri"/>
                <a:sym typeface="Calibri"/>
              </a:rPr>
              <a:t>Seguimiento limitado del estado de pedidos y reservas</a:t>
            </a:r>
            <a:endParaRPr b="0" i="0" sz="1150" u="non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4"/>
          <p:cNvSpPr/>
          <p:nvPr/>
        </p:nvSpPr>
        <p:spPr>
          <a:xfrm>
            <a:off x="861055" y="4471416"/>
            <a:ext cx="292500" cy="292500"/>
          </a:xfrm>
          <a:prstGeom prst="ellipse">
            <a:avLst/>
          </a:prstGeom>
          <a:solidFill>
            <a:srgbClr val="C74E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5" name="Google Shape;195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7133" y="4547494"/>
            <a:ext cx="140452" cy="140452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4"/>
          <p:cNvSpPr/>
          <p:nvPr/>
        </p:nvSpPr>
        <p:spPr>
          <a:xfrm>
            <a:off x="1290823" y="4434840"/>
            <a:ext cx="4251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92E"/>
              </a:buClr>
              <a:buSzPts val="1150"/>
              <a:buFont typeface="Calibri"/>
              <a:buNone/>
            </a:pPr>
            <a:r>
              <a:rPr b="0" i="0" lang="en-US" sz="1150" u="none" cap="none">
                <a:solidFill>
                  <a:srgbClr val="22292E"/>
                </a:solidFill>
                <a:latin typeface="Calibri"/>
                <a:ea typeface="Calibri"/>
                <a:cs typeface="Calibri"/>
                <a:sym typeface="Calibri"/>
              </a:rPr>
              <a:t>Falta de un canal integrado para pedidos y domicilios</a:t>
            </a:r>
            <a:endParaRPr b="0" i="0" sz="1150" u="non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4"/>
          <p:cNvSpPr/>
          <p:nvPr/>
        </p:nvSpPr>
        <p:spPr>
          <a:xfrm>
            <a:off x="861055" y="5006340"/>
            <a:ext cx="292500" cy="292500"/>
          </a:xfrm>
          <a:prstGeom prst="ellipse">
            <a:avLst/>
          </a:prstGeom>
          <a:solidFill>
            <a:srgbClr val="C74E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8" name="Google Shape;198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7133" y="5082418"/>
            <a:ext cx="140452" cy="140452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4"/>
          <p:cNvSpPr/>
          <p:nvPr/>
        </p:nvSpPr>
        <p:spPr>
          <a:xfrm>
            <a:off x="1290823" y="4969764"/>
            <a:ext cx="4251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92E"/>
              </a:buClr>
              <a:buSzPts val="1150"/>
              <a:buFont typeface="Calibri"/>
              <a:buNone/>
            </a:pPr>
            <a:r>
              <a:rPr b="0" i="0" lang="en-US" sz="1150" u="none" cap="none">
                <a:solidFill>
                  <a:srgbClr val="22292E"/>
                </a:solidFill>
                <a:latin typeface="Calibri"/>
                <a:ea typeface="Calibri"/>
                <a:cs typeface="Calibri"/>
                <a:sym typeface="Calibri"/>
              </a:rPr>
              <a:t>Experiencia fragmentada para clientes y repartidores</a:t>
            </a:r>
            <a:endParaRPr b="0" i="0" sz="1150" u="non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4"/>
          <p:cNvSpPr/>
          <p:nvPr/>
        </p:nvSpPr>
        <p:spPr>
          <a:xfrm>
            <a:off x="5935975" y="1645920"/>
            <a:ext cx="5715000" cy="4480500"/>
          </a:xfrm>
          <a:prstGeom prst="roundRect">
            <a:avLst>
              <a:gd fmla="val 1633" name="adj"/>
            </a:avLst>
          </a:prstGeom>
          <a:solidFill>
            <a:srgbClr val="FFF3D6"/>
          </a:solidFill>
          <a:ln>
            <a:noFill/>
          </a:ln>
          <a:effectLst>
            <a:outerShdw blurRad="101600" rotWithShape="0" algn="bl" dir="5400000" dist="38100">
              <a:srgbClr val="1A1A1A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4"/>
          <p:cNvSpPr/>
          <p:nvPr/>
        </p:nvSpPr>
        <p:spPr>
          <a:xfrm>
            <a:off x="6256015" y="1920240"/>
            <a:ext cx="548700" cy="548700"/>
          </a:xfrm>
          <a:prstGeom prst="ellipse">
            <a:avLst/>
          </a:prstGeom>
          <a:solidFill>
            <a:srgbClr val="B886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2" name="Google Shape;202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8661" y="2062886"/>
            <a:ext cx="263347" cy="263347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4"/>
          <p:cNvSpPr/>
          <p:nvPr/>
        </p:nvSpPr>
        <p:spPr>
          <a:xfrm>
            <a:off x="6941815" y="1993392"/>
            <a:ext cx="4572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600"/>
              <a:buFont typeface="Calibri"/>
              <a:buNone/>
            </a:pPr>
            <a:r>
              <a:rPr b="1" i="0" lang="en-US" sz="1600" u="none" cap="none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Impacto operativo</a:t>
            </a:r>
            <a:endParaRPr b="0" i="0" sz="1600" u="non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4"/>
          <p:cNvSpPr/>
          <p:nvPr/>
        </p:nvSpPr>
        <p:spPr>
          <a:xfrm>
            <a:off x="6256015" y="2606040"/>
            <a:ext cx="51207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92E"/>
              </a:buClr>
              <a:buSzPts val="1250"/>
              <a:buFont typeface="Calibri"/>
              <a:buNone/>
            </a:pPr>
            <a:r>
              <a:rPr b="0" i="0" lang="en-US" sz="1250" u="none" cap="none">
                <a:solidFill>
                  <a:srgbClr val="22292E"/>
                </a:solidFill>
                <a:latin typeface="Calibri"/>
                <a:ea typeface="Calibri"/>
                <a:cs typeface="Calibri"/>
                <a:sym typeface="Calibri"/>
              </a:rPr>
              <a:t>La gestión fragmentada incrementa errores, dificulta la atención al cliente y limita la visibilidad de la operación diaria.</a:t>
            </a:r>
            <a:endParaRPr b="0" i="0" sz="1250" u="non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4"/>
          <p:cNvSpPr/>
          <p:nvPr/>
        </p:nvSpPr>
        <p:spPr>
          <a:xfrm>
            <a:off x="6256015" y="3611880"/>
            <a:ext cx="5120700" cy="2331600"/>
          </a:xfrm>
          <a:prstGeom prst="roundRect">
            <a:avLst>
              <a:gd fmla="val 3137" name="adj"/>
            </a:avLst>
          </a:prstGeom>
          <a:solidFill>
            <a:srgbClr val="0030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4"/>
          <p:cNvSpPr/>
          <p:nvPr/>
        </p:nvSpPr>
        <p:spPr>
          <a:xfrm>
            <a:off x="6530335" y="3794760"/>
            <a:ext cx="4572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C300"/>
              </a:buClr>
              <a:buSzPts val="1200"/>
              <a:buFont typeface="Calibri"/>
              <a:buNone/>
            </a:pPr>
            <a:r>
              <a:rPr b="1" i="0" lang="en-US" sz="1200" u="none" cap="none">
                <a:solidFill>
                  <a:srgbClr val="FDC300"/>
                </a:solidFill>
                <a:latin typeface="Calibri"/>
                <a:ea typeface="Calibri"/>
                <a:cs typeface="Calibri"/>
                <a:sym typeface="Calibri"/>
              </a:rPr>
              <a:t>SOLUCIÓN PROPUESTA</a:t>
            </a:r>
            <a:endParaRPr b="0" i="0" sz="1200" u="non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4"/>
          <p:cNvSpPr/>
          <p:nvPr/>
        </p:nvSpPr>
        <p:spPr>
          <a:xfrm>
            <a:off x="6530335" y="4114800"/>
            <a:ext cx="4617600" cy="169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 Pesquera centraliza la atención y la operación en una plataforma web con acceso por roles y trazabilidad de cada servicio.</a:t>
            </a:r>
            <a:endParaRPr b="0" i="0" sz="1300" u="non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5"/>
          <p:cNvSpPr/>
          <p:nvPr/>
        </p:nvSpPr>
        <p:spPr>
          <a:xfrm>
            <a:off x="548640" y="384048"/>
            <a:ext cx="9144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9A900"/>
              </a:buClr>
              <a:buSzPts val="1300"/>
              <a:buFont typeface="Calibri"/>
              <a:buNone/>
            </a:pPr>
            <a:r>
              <a:rPr b="1" i="0" lang="en-US" sz="1300" u="none" cap="none">
                <a:solidFill>
                  <a:srgbClr val="39A900"/>
                </a:solidFill>
                <a:latin typeface="Calibri"/>
                <a:ea typeface="Calibri"/>
                <a:cs typeface="Calibri"/>
                <a:sym typeface="Calibri"/>
              </a:rPr>
              <a:t>¿POR QUÉ ESTE PROYECTO?</a:t>
            </a:r>
            <a:endParaRPr b="0" i="0" sz="1300" u="non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5"/>
          <p:cNvSpPr/>
          <p:nvPr/>
        </p:nvSpPr>
        <p:spPr>
          <a:xfrm>
            <a:off x="548640" y="658368"/>
            <a:ext cx="107898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3000"/>
              <a:buFont typeface="Cambria"/>
              <a:buNone/>
            </a:pPr>
            <a:r>
              <a:rPr b="1" lang="en-US" sz="3600">
                <a:solidFill>
                  <a:srgbClr val="38AA00"/>
                </a:solidFill>
                <a:latin typeface="Work Sans"/>
                <a:ea typeface="Work Sans"/>
                <a:cs typeface="Work Sans"/>
                <a:sym typeface="Work Sans"/>
              </a:rPr>
              <a:t>Justificación</a:t>
            </a:r>
            <a:endParaRPr/>
          </a:p>
        </p:txBody>
      </p:sp>
      <p:sp>
        <p:nvSpPr>
          <p:cNvPr id="215" name="Google Shape;215;p5"/>
          <p:cNvSpPr/>
          <p:nvPr/>
        </p:nvSpPr>
        <p:spPr>
          <a:xfrm>
            <a:off x="548640" y="1600200"/>
            <a:ext cx="106071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92E"/>
              </a:buClr>
              <a:buSzPts val="1400"/>
              <a:buFont typeface="Calibri"/>
              <a:buNone/>
            </a:pPr>
            <a:r>
              <a:rPr b="0" i="0" lang="en-US" sz="1400" u="none" cap="none">
                <a:solidFill>
                  <a:srgbClr val="22292E"/>
                </a:solidFill>
                <a:latin typeface="Calibri"/>
                <a:ea typeface="Calibri"/>
                <a:cs typeface="Calibri"/>
                <a:sym typeface="Calibri"/>
              </a:rPr>
              <a:t>La Pesquera responde a la necesidad de organizar la operación de un restaurante y facilitar la atención digital de sus clientes.</a:t>
            </a:r>
            <a:endParaRPr b="0" i="0" sz="1400" u="non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5"/>
          <p:cNvSpPr/>
          <p:nvPr/>
        </p:nvSpPr>
        <p:spPr>
          <a:xfrm>
            <a:off x="548640" y="2423160"/>
            <a:ext cx="3492900" cy="1691700"/>
          </a:xfrm>
          <a:prstGeom prst="roundRect">
            <a:avLst>
              <a:gd fmla="val 4324" name="adj"/>
            </a:avLst>
          </a:prstGeom>
          <a:solidFill>
            <a:srgbClr val="EDF6E8"/>
          </a:solidFill>
          <a:ln>
            <a:noFill/>
          </a:ln>
          <a:effectLst>
            <a:outerShdw blurRad="101600" rotWithShape="0" algn="bl" dir="5400000" dist="38100">
              <a:srgbClr val="1A1A1A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5"/>
          <p:cNvSpPr/>
          <p:nvPr/>
        </p:nvSpPr>
        <p:spPr>
          <a:xfrm>
            <a:off x="2011680" y="2624328"/>
            <a:ext cx="567000" cy="5670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8" name="Google Shape;218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59081" y="2771729"/>
            <a:ext cx="272125" cy="272125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5"/>
          <p:cNvSpPr/>
          <p:nvPr/>
        </p:nvSpPr>
        <p:spPr>
          <a:xfrm>
            <a:off x="685800" y="3319272"/>
            <a:ext cx="32187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300"/>
              <a:buFont typeface="Calibri"/>
              <a:buNone/>
            </a:pPr>
            <a:r>
              <a:rPr b="1" i="0" lang="en-US" sz="1300" u="none" cap="none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Modernizar la gestión</a:t>
            </a:r>
            <a:endParaRPr b="0" i="0" sz="1300" u="non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5"/>
          <p:cNvSpPr/>
          <p:nvPr/>
        </p:nvSpPr>
        <p:spPr>
          <a:xfrm>
            <a:off x="685800" y="3630168"/>
            <a:ext cx="3218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050"/>
              <a:buFont typeface="Calibri"/>
              <a:buNone/>
            </a:pPr>
            <a:r>
              <a:rPr b="0" i="0" lang="en-US" sz="1050" u="none" cap="non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Centraliza productos, pedidos, reservas y domicilios</a:t>
            </a:r>
            <a:endParaRPr b="0" i="0" sz="1050" u="non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5"/>
          <p:cNvSpPr/>
          <p:nvPr/>
        </p:nvSpPr>
        <p:spPr>
          <a:xfrm>
            <a:off x="4334256" y="2423160"/>
            <a:ext cx="3492900" cy="1691700"/>
          </a:xfrm>
          <a:prstGeom prst="roundRect">
            <a:avLst>
              <a:gd fmla="val 4324" name="adj"/>
            </a:avLst>
          </a:prstGeom>
          <a:solidFill>
            <a:srgbClr val="EDF6E8"/>
          </a:solidFill>
          <a:ln>
            <a:noFill/>
          </a:ln>
          <a:effectLst>
            <a:outerShdw blurRad="101600" rotWithShape="0" algn="bl" dir="5400000" dist="38100">
              <a:srgbClr val="1A1A1A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5"/>
          <p:cNvSpPr/>
          <p:nvPr/>
        </p:nvSpPr>
        <p:spPr>
          <a:xfrm>
            <a:off x="5797296" y="2624328"/>
            <a:ext cx="567000" cy="5670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3" name="Google Shape;223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44697" y="2771729"/>
            <a:ext cx="272125" cy="272125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5"/>
          <p:cNvSpPr/>
          <p:nvPr/>
        </p:nvSpPr>
        <p:spPr>
          <a:xfrm>
            <a:off x="4471416" y="3319272"/>
            <a:ext cx="32187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300"/>
              <a:buFont typeface="Calibri"/>
              <a:buNone/>
            </a:pPr>
            <a:r>
              <a:rPr b="1" i="0" lang="en-US" sz="1300" u="none" cap="none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Reducir errores</a:t>
            </a:r>
            <a:endParaRPr b="0" i="0" sz="1300" u="non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5"/>
          <p:cNvSpPr/>
          <p:nvPr/>
        </p:nvSpPr>
        <p:spPr>
          <a:xfrm>
            <a:off x="4471416" y="3630168"/>
            <a:ext cx="3218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050"/>
              <a:buFont typeface="Calibri"/>
              <a:buNone/>
            </a:pPr>
            <a:r>
              <a:rPr b="0" i="0" lang="en-US" sz="1050" u="none" cap="non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Registra cada servicio con estados y responsables</a:t>
            </a:r>
            <a:endParaRPr b="0" i="0" sz="1050" u="non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5"/>
          <p:cNvSpPr/>
          <p:nvPr/>
        </p:nvSpPr>
        <p:spPr>
          <a:xfrm>
            <a:off x="8119872" y="2423160"/>
            <a:ext cx="3492900" cy="1691700"/>
          </a:xfrm>
          <a:prstGeom prst="roundRect">
            <a:avLst>
              <a:gd fmla="val 4324" name="adj"/>
            </a:avLst>
          </a:prstGeom>
          <a:solidFill>
            <a:srgbClr val="EDF6E8"/>
          </a:solidFill>
          <a:ln>
            <a:noFill/>
          </a:ln>
          <a:effectLst>
            <a:outerShdw blurRad="101600" rotWithShape="0" algn="bl" dir="5400000" dist="38100">
              <a:srgbClr val="1A1A1A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5"/>
          <p:cNvSpPr/>
          <p:nvPr/>
        </p:nvSpPr>
        <p:spPr>
          <a:xfrm>
            <a:off x="9582912" y="2624328"/>
            <a:ext cx="567000" cy="5670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8" name="Google Shape;228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730313" y="2771729"/>
            <a:ext cx="272125" cy="272125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5"/>
          <p:cNvSpPr/>
          <p:nvPr/>
        </p:nvSpPr>
        <p:spPr>
          <a:xfrm>
            <a:off x="8257032" y="3319272"/>
            <a:ext cx="32187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300"/>
              <a:buFont typeface="Calibri"/>
              <a:buNone/>
            </a:pPr>
            <a:r>
              <a:rPr b="1" i="0" lang="en-US" sz="1300" u="none" cap="none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Compra digital</a:t>
            </a:r>
            <a:endParaRPr b="0" i="0" sz="1300" u="non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5"/>
          <p:cNvSpPr/>
          <p:nvPr/>
        </p:nvSpPr>
        <p:spPr>
          <a:xfrm>
            <a:off x="8257032" y="3630168"/>
            <a:ext cx="3218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050"/>
              <a:buFont typeface="Calibri"/>
              <a:buNone/>
            </a:pPr>
            <a:r>
              <a:rPr b="0" i="0" lang="en-US" sz="1050" u="none" cap="non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Consulta el menú y realiza solicitudes desde la web</a:t>
            </a:r>
            <a:endParaRPr b="0" i="0" sz="1050" u="non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5"/>
          <p:cNvSpPr/>
          <p:nvPr/>
        </p:nvSpPr>
        <p:spPr>
          <a:xfrm>
            <a:off x="548640" y="4370832"/>
            <a:ext cx="3492900" cy="1691700"/>
          </a:xfrm>
          <a:prstGeom prst="roundRect">
            <a:avLst>
              <a:gd fmla="val 4324" name="adj"/>
            </a:avLst>
          </a:prstGeom>
          <a:solidFill>
            <a:srgbClr val="EDF6E8"/>
          </a:solidFill>
          <a:ln>
            <a:noFill/>
          </a:ln>
          <a:effectLst>
            <a:outerShdw blurRad="101600" rotWithShape="0" algn="bl" dir="5400000" dist="38100">
              <a:srgbClr val="1A1A1A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5"/>
          <p:cNvSpPr/>
          <p:nvPr/>
        </p:nvSpPr>
        <p:spPr>
          <a:xfrm>
            <a:off x="2011680" y="4572000"/>
            <a:ext cx="567000" cy="5670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3" name="Google Shape;233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159081" y="4719401"/>
            <a:ext cx="272125" cy="272125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5"/>
          <p:cNvSpPr/>
          <p:nvPr/>
        </p:nvSpPr>
        <p:spPr>
          <a:xfrm>
            <a:off x="685800" y="5266944"/>
            <a:ext cx="32187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300"/>
              <a:buFont typeface="Calibri"/>
              <a:buNone/>
            </a:pPr>
            <a:r>
              <a:rPr b="1" i="0" lang="en-US" sz="1300" u="none" cap="none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Cuidado ambiental</a:t>
            </a:r>
            <a:endParaRPr b="0" i="0" sz="1300" u="non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5"/>
          <p:cNvSpPr/>
          <p:nvPr/>
        </p:nvSpPr>
        <p:spPr>
          <a:xfrm>
            <a:off x="685800" y="5577840"/>
            <a:ext cx="3218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050"/>
              <a:buFont typeface="Calibri"/>
              <a:buNone/>
            </a:pPr>
            <a:r>
              <a:rPr b="0" i="0" lang="en-US" sz="1050" u="none" cap="non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Facilita la atención y el seguimiento de solicitudes</a:t>
            </a:r>
            <a:endParaRPr b="0" i="0" sz="1050" u="non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5"/>
          <p:cNvSpPr/>
          <p:nvPr/>
        </p:nvSpPr>
        <p:spPr>
          <a:xfrm>
            <a:off x="4334256" y="4370832"/>
            <a:ext cx="3492900" cy="1691700"/>
          </a:xfrm>
          <a:prstGeom prst="roundRect">
            <a:avLst>
              <a:gd fmla="val 4324" name="adj"/>
            </a:avLst>
          </a:prstGeom>
          <a:solidFill>
            <a:srgbClr val="EDF6E8"/>
          </a:solidFill>
          <a:ln>
            <a:noFill/>
          </a:ln>
          <a:effectLst>
            <a:outerShdw blurRad="101600" rotWithShape="0" algn="bl" dir="5400000" dist="38100">
              <a:srgbClr val="1A1A1A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5"/>
          <p:cNvSpPr/>
          <p:nvPr/>
        </p:nvSpPr>
        <p:spPr>
          <a:xfrm>
            <a:off x="5797296" y="4572000"/>
            <a:ext cx="567000" cy="5670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8" name="Google Shape;238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944697" y="4719401"/>
            <a:ext cx="272125" cy="272125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5"/>
          <p:cNvSpPr/>
          <p:nvPr/>
        </p:nvSpPr>
        <p:spPr>
          <a:xfrm>
            <a:off x="4471416" y="5266944"/>
            <a:ext cx="32187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300"/>
              <a:buFont typeface="Calibri"/>
              <a:buNone/>
            </a:pPr>
            <a:r>
              <a:rPr b="1" i="0" lang="en-US" sz="1300" u="none" cap="none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Mejor administración</a:t>
            </a:r>
            <a:endParaRPr b="0" i="0" sz="1300" u="non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5"/>
          <p:cNvSpPr/>
          <p:nvPr/>
        </p:nvSpPr>
        <p:spPr>
          <a:xfrm>
            <a:off x="4471416" y="5577840"/>
            <a:ext cx="3218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050"/>
              <a:buFont typeface="Calibri"/>
              <a:buNone/>
            </a:pPr>
            <a:r>
              <a:rPr b="0" i="0" lang="en-US" sz="1050" u="none" cap="non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Panel administrativo para controlar la operación</a:t>
            </a:r>
            <a:endParaRPr b="0" i="0" sz="1050" u="non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5"/>
          <p:cNvSpPr/>
          <p:nvPr/>
        </p:nvSpPr>
        <p:spPr>
          <a:xfrm>
            <a:off x="8119872" y="4370832"/>
            <a:ext cx="3492900" cy="1691700"/>
          </a:xfrm>
          <a:prstGeom prst="roundRect">
            <a:avLst>
              <a:gd fmla="val 4324" name="adj"/>
            </a:avLst>
          </a:prstGeom>
          <a:solidFill>
            <a:srgbClr val="EDF6E8"/>
          </a:solidFill>
          <a:ln>
            <a:noFill/>
          </a:ln>
          <a:effectLst>
            <a:outerShdw blurRad="101600" rotWithShape="0" algn="bl" dir="5400000" dist="38100">
              <a:srgbClr val="1A1A1A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5"/>
          <p:cNvSpPr/>
          <p:nvPr/>
        </p:nvSpPr>
        <p:spPr>
          <a:xfrm>
            <a:off x="9582912" y="4572000"/>
            <a:ext cx="567000" cy="5670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3" name="Google Shape;243;p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730313" y="4719401"/>
            <a:ext cx="272125" cy="272125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5"/>
          <p:cNvSpPr/>
          <p:nvPr/>
        </p:nvSpPr>
        <p:spPr>
          <a:xfrm>
            <a:off x="8257032" y="5266944"/>
            <a:ext cx="32187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300"/>
              <a:buFont typeface="Calibri"/>
              <a:buNone/>
            </a:pPr>
            <a:r>
              <a:rPr b="1" i="0" lang="en-US" sz="1300" u="none" cap="none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Confianza del cliente</a:t>
            </a:r>
            <a:endParaRPr b="0" i="0" sz="1300" u="non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5"/>
          <p:cNvSpPr/>
          <p:nvPr/>
        </p:nvSpPr>
        <p:spPr>
          <a:xfrm>
            <a:off x="8257032" y="5577840"/>
            <a:ext cx="3218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050"/>
              <a:buFont typeface="Calibri"/>
              <a:buNone/>
            </a:pPr>
            <a:r>
              <a:rPr b="0" i="0" lang="en-US" sz="1050" u="none" cap="non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Notificaciones y estados visibles para el cliente</a:t>
            </a:r>
            <a:endParaRPr b="0" i="0" sz="1050" u="non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6"/>
          <p:cNvSpPr/>
          <p:nvPr/>
        </p:nvSpPr>
        <p:spPr>
          <a:xfrm>
            <a:off x="548640" y="384048"/>
            <a:ext cx="9144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9A900"/>
              </a:buClr>
              <a:buSzPts val="1300"/>
              <a:buFont typeface="Calibri"/>
              <a:buNone/>
            </a:pPr>
            <a:r>
              <a:rPr b="1" i="0" lang="en-US" sz="1300" u="none" cap="none">
                <a:solidFill>
                  <a:srgbClr val="39A900"/>
                </a:solidFill>
                <a:latin typeface="Calibri"/>
                <a:ea typeface="Calibri"/>
                <a:cs typeface="Calibri"/>
                <a:sym typeface="Calibri"/>
              </a:rPr>
              <a:t>METAS DEL PROYECTO</a:t>
            </a:r>
            <a:endParaRPr b="0" i="0" sz="1300" u="non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6"/>
          <p:cNvSpPr/>
          <p:nvPr/>
        </p:nvSpPr>
        <p:spPr>
          <a:xfrm>
            <a:off x="548640" y="658368"/>
            <a:ext cx="107898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3000"/>
              <a:buFont typeface="Cambria"/>
              <a:buNone/>
            </a:pPr>
            <a:r>
              <a:rPr b="1" lang="en-US" sz="3600">
                <a:solidFill>
                  <a:srgbClr val="38AA00"/>
                </a:solidFill>
                <a:latin typeface="Work Sans"/>
                <a:ea typeface="Work Sans"/>
                <a:cs typeface="Work Sans"/>
                <a:sym typeface="Work Sans"/>
              </a:rPr>
              <a:t>Objetivos</a:t>
            </a:r>
            <a:endParaRPr/>
          </a:p>
        </p:txBody>
      </p:sp>
      <p:sp>
        <p:nvSpPr>
          <p:cNvPr id="253" name="Google Shape;253;p6"/>
          <p:cNvSpPr/>
          <p:nvPr/>
        </p:nvSpPr>
        <p:spPr>
          <a:xfrm>
            <a:off x="548640" y="1645920"/>
            <a:ext cx="10607100" cy="1051500"/>
          </a:xfrm>
          <a:prstGeom prst="roundRect">
            <a:avLst>
              <a:gd fmla="val 6957" name="adj"/>
            </a:avLst>
          </a:prstGeom>
          <a:solidFill>
            <a:srgbClr val="00304D"/>
          </a:solidFill>
          <a:ln>
            <a:noFill/>
          </a:ln>
          <a:effectLst>
            <a:outerShdw blurRad="101600" rotWithShape="0" algn="bl" dir="5400000" dist="38100">
              <a:srgbClr val="1A1A1A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6"/>
          <p:cNvSpPr/>
          <p:nvPr/>
        </p:nvSpPr>
        <p:spPr>
          <a:xfrm>
            <a:off x="868680" y="1874520"/>
            <a:ext cx="594300" cy="5943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5" name="Google Shape;25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3214" y="2029054"/>
            <a:ext cx="285293" cy="285293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6"/>
          <p:cNvSpPr/>
          <p:nvPr/>
        </p:nvSpPr>
        <p:spPr>
          <a:xfrm>
            <a:off x="1645920" y="1764792"/>
            <a:ext cx="2743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C300"/>
              </a:buClr>
              <a:buSzPts val="1200"/>
              <a:buFont typeface="Calibri"/>
              <a:buNone/>
            </a:pPr>
            <a:r>
              <a:rPr b="1" i="0" lang="en-US" sz="1600" u="none" cap="none">
                <a:solidFill>
                  <a:srgbClr val="FDC300"/>
                </a:solidFill>
                <a:latin typeface="Calibri"/>
                <a:ea typeface="Calibri"/>
                <a:cs typeface="Calibri"/>
                <a:sym typeface="Calibri"/>
              </a:rPr>
              <a:t>Objetivo general</a:t>
            </a:r>
            <a:endParaRPr b="0" i="0" sz="1600" u="non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6"/>
          <p:cNvSpPr/>
          <p:nvPr/>
        </p:nvSpPr>
        <p:spPr>
          <a:xfrm>
            <a:off x="1645920" y="1970975"/>
            <a:ext cx="9235500" cy="6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0" i="0" lang="en-US" sz="1800" u="non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Desarrollar una plataforma web para administrar el menú, los pedidos, las reservas y los domicilios de La Pesquera, con acceso diferenciado para clientes, administradores y repartidores.</a:t>
            </a:r>
            <a:endParaRPr b="0" i="0" sz="1800" u="non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6"/>
          <p:cNvSpPr/>
          <p:nvPr/>
        </p:nvSpPr>
        <p:spPr>
          <a:xfrm>
            <a:off x="548640" y="2926080"/>
            <a:ext cx="4572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500"/>
              <a:buFont typeface="Calibri"/>
              <a:buNone/>
            </a:pPr>
            <a:r>
              <a:rPr b="1" i="0" lang="en-US" sz="1500" u="none" cap="none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Objetivos específicos</a:t>
            </a:r>
            <a:endParaRPr b="0" i="0" sz="1500" u="non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6"/>
          <p:cNvSpPr/>
          <p:nvPr/>
        </p:nvSpPr>
        <p:spPr>
          <a:xfrm>
            <a:off x="548640" y="3337560"/>
            <a:ext cx="1960500" cy="2148900"/>
          </a:xfrm>
          <a:prstGeom prst="roundRect">
            <a:avLst>
              <a:gd fmla="val 3731" name="adj"/>
            </a:avLst>
          </a:prstGeom>
          <a:solidFill>
            <a:srgbClr val="F6F6F6"/>
          </a:solidFill>
          <a:ln>
            <a:noFill/>
          </a:ln>
          <a:effectLst>
            <a:outerShdw blurRad="101600" rotWithShape="0" algn="bl" dir="5400000" dist="38100">
              <a:srgbClr val="1A1A1A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6"/>
          <p:cNvSpPr/>
          <p:nvPr/>
        </p:nvSpPr>
        <p:spPr>
          <a:xfrm>
            <a:off x="1300277" y="3520440"/>
            <a:ext cx="457200" cy="4572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1" name="Google Shape;261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19149" y="3639312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6"/>
          <p:cNvSpPr/>
          <p:nvPr/>
        </p:nvSpPr>
        <p:spPr>
          <a:xfrm>
            <a:off x="640080" y="4114800"/>
            <a:ext cx="17775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100"/>
              <a:buFont typeface="Calibri"/>
              <a:buNone/>
            </a:pPr>
            <a:r>
              <a:rPr b="1" i="0" lang="en-US" sz="1200" u="none" cap="none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Gestionar pedidos</a:t>
            </a:r>
            <a:endParaRPr b="0" i="0" sz="1200" u="non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6"/>
          <p:cNvSpPr/>
          <p:nvPr/>
        </p:nvSpPr>
        <p:spPr>
          <a:xfrm>
            <a:off x="658368" y="4617720"/>
            <a:ext cx="17409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950"/>
              <a:buFont typeface="Calibri"/>
              <a:buNone/>
            </a:pPr>
            <a:r>
              <a:rPr b="0" i="0" lang="en-US" sz="1050" u="non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Registrar pedidos desde el carrito y consultar su estado</a:t>
            </a:r>
            <a:endParaRPr/>
          </a:p>
        </p:txBody>
      </p:sp>
      <p:sp>
        <p:nvSpPr>
          <p:cNvPr id="264" name="Google Shape;264;p6"/>
          <p:cNvSpPr/>
          <p:nvPr/>
        </p:nvSpPr>
        <p:spPr>
          <a:xfrm>
            <a:off x="2710282" y="3337560"/>
            <a:ext cx="1960500" cy="2148900"/>
          </a:xfrm>
          <a:prstGeom prst="roundRect">
            <a:avLst>
              <a:gd fmla="val 3731" name="adj"/>
            </a:avLst>
          </a:prstGeom>
          <a:solidFill>
            <a:srgbClr val="F6F6F6"/>
          </a:solidFill>
          <a:ln>
            <a:noFill/>
          </a:ln>
          <a:effectLst>
            <a:outerShdw blurRad="101600" rotWithShape="0" algn="bl" dir="5400000" dist="38100">
              <a:srgbClr val="1A1A1A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6"/>
          <p:cNvSpPr/>
          <p:nvPr/>
        </p:nvSpPr>
        <p:spPr>
          <a:xfrm>
            <a:off x="3461918" y="3520440"/>
            <a:ext cx="457200" cy="4572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6" name="Google Shape;266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580790" y="3639312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6"/>
          <p:cNvSpPr/>
          <p:nvPr/>
        </p:nvSpPr>
        <p:spPr>
          <a:xfrm>
            <a:off x="2801722" y="4114800"/>
            <a:ext cx="17775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100"/>
              <a:buFont typeface="Calibri"/>
              <a:buNone/>
            </a:pPr>
            <a:r>
              <a:rPr b="1" lang="en-US" sz="1200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Gestionar reservas</a:t>
            </a:r>
            <a:endParaRPr b="0" i="0" sz="1200" u="non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6"/>
          <p:cNvSpPr/>
          <p:nvPr/>
        </p:nvSpPr>
        <p:spPr>
          <a:xfrm>
            <a:off x="2820010" y="4617720"/>
            <a:ext cx="17409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950"/>
              <a:buFont typeface="Calibri"/>
              <a:buNone/>
            </a:pPr>
            <a:r>
              <a:rPr b="0" i="0" lang="en-US" sz="1050" u="none" cap="non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Crear, editar y cancelar reservas pendientes</a:t>
            </a:r>
            <a:endParaRPr/>
          </a:p>
        </p:txBody>
      </p:sp>
      <p:sp>
        <p:nvSpPr>
          <p:cNvPr id="269" name="Google Shape;269;p6"/>
          <p:cNvSpPr/>
          <p:nvPr/>
        </p:nvSpPr>
        <p:spPr>
          <a:xfrm>
            <a:off x="4871923" y="3337560"/>
            <a:ext cx="1960500" cy="2148900"/>
          </a:xfrm>
          <a:prstGeom prst="roundRect">
            <a:avLst>
              <a:gd fmla="val 3731" name="adj"/>
            </a:avLst>
          </a:prstGeom>
          <a:solidFill>
            <a:srgbClr val="F6F6F6"/>
          </a:solidFill>
          <a:ln>
            <a:noFill/>
          </a:ln>
          <a:effectLst>
            <a:outerShdw blurRad="101600" rotWithShape="0" algn="bl" dir="5400000" dist="38100">
              <a:srgbClr val="1A1A1A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6"/>
          <p:cNvSpPr/>
          <p:nvPr/>
        </p:nvSpPr>
        <p:spPr>
          <a:xfrm>
            <a:off x="5623560" y="3520440"/>
            <a:ext cx="457200" cy="4572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1" name="Google Shape;271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42432" y="3639312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6"/>
          <p:cNvSpPr/>
          <p:nvPr/>
        </p:nvSpPr>
        <p:spPr>
          <a:xfrm>
            <a:off x="4963363" y="4114800"/>
            <a:ext cx="17775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100"/>
              <a:buFont typeface="Calibri"/>
              <a:buNone/>
            </a:pPr>
            <a:r>
              <a:rPr b="1" i="0" lang="en-US" sz="1200" u="none" cap="none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Administrar el menú</a:t>
            </a:r>
            <a:endParaRPr b="0" i="0" sz="1200" u="non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6"/>
          <p:cNvSpPr/>
          <p:nvPr/>
        </p:nvSpPr>
        <p:spPr>
          <a:xfrm>
            <a:off x="4981651" y="4617720"/>
            <a:ext cx="17409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950"/>
              <a:buFont typeface="Calibri"/>
              <a:buNone/>
            </a:pPr>
            <a:r>
              <a:rPr b="0" i="0" lang="en-US" sz="1050" u="none" cap="non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Crear, editar, activar y organizar productos por categoría</a:t>
            </a:r>
            <a:endParaRPr/>
          </a:p>
        </p:txBody>
      </p:sp>
      <p:sp>
        <p:nvSpPr>
          <p:cNvPr id="274" name="Google Shape;274;p6"/>
          <p:cNvSpPr/>
          <p:nvPr/>
        </p:nvSpPr>
        <p:spPr>
          <a:xfrm>
            <a:off x="7033565" y="3337560"/>
            <a:ext cx="1960500" cy="2148900"/>
          </a:xfrm>
          <a:prstGeom prst="roundRect">
            <a:avLst>
              <a:gd fmla="val 3731" name="adj"/>
            </a:avLst>
          </a:prstGeom>
          <a:solidFill>
            <a:srgbClr val="F6F6F6"/>
          </a:solidFill>
          <a:ln>
            <a:noFill/>
          </a:ln>
          <a:effectLst>
            <a:outerShdw blurRad="101600" rotWithShape="0" algn="bl" dir="5400000" dist="38100">
              <a:srgbClr val="1A1A1A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6"/>
          <p:cNvSpPr/>
          <p:nvPr/>
        </p:nvSpPr>
        <p:spPr>
          <a:xfrm>
            <a:off x="7785202" y="3520440"/>
            <a:ext cx="457200" cy="4572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6" name="Google Shape;276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904074" y="3639312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6"/>
          <p:cNvSpPr/>
          <p:nvPr/>
        </p:nvSpPr>
        <p:spPr>
          <a:xfrm>
            <a:off x="7125005" y="4114800"/>
            <a:ext cx="17775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100"/>
              <a:buFont typeface="Calibri"/>
              <a:buNone/>
            </a:pPr>
            <a:r>
              <a:rPr b="1" i="0" lang="en-US" sz="1200" u="none" cap="none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Coordinar domicilios</a:t>
            </a:r>
            <a:endParaRPr b="0" i="0" sz="1200" u="non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6"/>
          <p:cNvSpPr/>
          <p:nvPr/>
        </p:nvSpPr>
        <p:spPr>
          <a:xfrm>
            <a:off x="7143293" y="4617720"/>
            <a:ext cx="17409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950"/>
              <a:buFont typeface="Calibri"/>
              <a:buNone/>
            </a:pPr>
            <a:r>
              <a:rPr b="0" i="0" lang="en-US" sz="1050" u="none" cap="non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Asignar entregas y actualizar su estado</a:t>
            </a:r>
            <a:endParaRPr/>
          </a:p>
        </p:txBody>
      </p:sp>
      <p:sp>
        <p:nvSpPr>
          <p:cNvPr id="279" name="Google Shape;279;p6"/>
          <p:cNvSpPr/>
          <p:nvPr/>
        </p:nvSpPr>
        <p:spPr>
          <a:xfrm>
            <a:off x="9195206" y="3337560"/>
            <a:ext cx="1960500" cy="2148900"/>
          </a:xfrm>
          <a:prstGeom prst="roundRect">
            <a:avLst>
              <a:gd fmla="val 3731" name="adj"/>
            </a:avLst>
          </a:prstGeom>
          <a:solidFill>
            <a:srgbClr val="F6F6F6"/>
          </a:solidFill>
          <a:ln>
            <a:noFill/>
          </a:ln>
          <a:effectLst>
            <a:outerShdw blurRad="101600" rotWithShape="0" algn="bl" dir="5400000" dist="38100">
              <a:srgbClr val="1A1A1A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6"/>
          <p:cNvSpPr/>
          <p:nvPr/>
        </p:nvSpPr>
        <p:spPr>
          <a:xfrm>
            <a:off x="9946843" y="3520440"/>
            <a:ext cx="457200" cy="4572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1" name="Google Shape;281;p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065715" y="3639312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6"/>
          <p:cNvSpPr/>
          <p:nvPr/>
        </p:nvSpPr>
        <p:spPr>
          <a:xfrm>
            <a:off x="9286646" y="4114800"/>
            <a:ext cx="17775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100"/>
              <a:buFont typeface="Calibri"/>
              <a:buNone/>
            </a:pPr>
            <a:r>
              <a:rPr b="1" i="0" lang="en-US" sz="1200" u="none" cap="none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Proteger el acceso</a:t>
            </a:r>
            <a:endParaRPr b="0" i="0" sz="1200" u="non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6"/>
          <p:cNvSpPr/>
          <p:nvPr/>
        </p:nvSpPr>
        <p:spPr>
          <a:xfrm>
            <a:off x="9304934" y="4617720"/>
            <a:ext cx="17409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950"/>
              <a:buFont typeface="Calibri"/>
              <a:buNone/>
            </a:pPr>
            <a:r>
              <a:t/>
            </a:r>
            <a:endParaRPr b="0" i="0" sz="1050" u="none" cap="none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6"/>
          <p:cNvSpPr/>
          <p:nvPr/>
        </p:nvSpPr>
        <p:spPr>
          <a:xfrm>
            <a:off x="9314090" y="4617540"/>
            <a:ext cx="17409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050" u="none" cap="non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Autenticación, roles, recuperación de contraseña y verificación por correo</a:t>
            </a:r>
            <a:endParaRPr b="1" sz="1050">
              <a:solidFill>
                <a:srgbClr val="00304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7"/>
          <p:cNvSpPr/>
          <p:nvPr/>
        </p:nvSpPr>
        <p:spPr>
          <a:xfrm>
            <a:off x="548640" y="384048"/>
            <a:ext cx="9144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9A900"/>
              </a:buClr>
              <a:buSzPts val="1300"/>
              <a:buFont typeface="Calibri"/>
              <a:buNone/>
            </a:pPr>
            <a:r>
              <a:rPr b="1" i="0" lang="en-US" sz="1300" u="none" cap="none">
                <a:solidFill>
                  <a:srgbClr val="39A900"/>
                </a:solidFill>
                <a:latin typeface="Calibri"/>
                <a:ea typeface="Calibri"/>
                <a:cs typeface="Calibri"/>
                <a:sym typeface="Calibri"/>
              </a:rPr>
              <a:t>DELIMITACIÓN</a:t>
            </a:r>
            <a:endParaRPr b="0" i="0" sz="1300" u="non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7"/>
          <p:cNvSpPr/>
          <p:nvPr/>
        </p:nvSpPr>
        <p:spPr>
          <a:xfrm>
            <a:off x="548640" y="658368"/>
            <a:ext cx="107898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3000"/>
              <a:buFont typeface="Cambria"/>
              <a:buNone/>
            </a:pPr>
            <a:r>
              <a:rPr b="1" lang="en-US" sz="3600">
                <a:solidFill>
                  <a:srgbClr val="38AA00"/>
                </a:solidFill>
                <a:latin typeface="Work Sans"/>
                <a:ea typeface="Work Sans"/>
                <a:cs typeface="Work Sans"/>
                <a:sym typeface="Work Sans"/>
              </a:rPr>
              <a:t>Alcance del proyecto</a:t>
            </a:r>
            <a:endParaRPr/>
          </a:p>
        </p:txBody>
      </p:sp>
      <p:sp>
        <p:nvSpPr>
          <p:cNvPr id="292" name="Google Shape;292;p7"/>
          <p:cNvSpPr/>
          <p:nvPr/>
        </p:nvSpPr>
        <p:spPr>
          <a:xfrm>
            <a:off x="548640" y="1645920"/>
            <a:ext cx="3383400" cy="4480500"/>
          </a:xfrm>
          <a:prstGeom prst="roundRect">
            <a:avLst>
              <a:gd fmla="val 2162" name="adj"/>
            </a:avLst>
          </a:prstGeom>
          <a:solidFill>
            <a:srgbClr val="EDF6E8"/>
          </a:solidFill>
          <a:ln>
            <a:noFill/>
          </a:ln>
          <a:effectLst>
            <a:outerShdw blurRad="101600" rotWithShape="0" algn="bl" dir="5400000" dist="38100">
              <a:srgbClr val="1A1A1A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7"/>
          <p:cNvSpPr/>
          <p:nvPr/>
        </p:nvSpPr>
        <p:spPr>
          <a:xfrm>
            <a:off x="868680" y="1920240"/>
            <a:ext cx="548700" cy="5487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4" name="Google Shape;294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11326" y="2062886"/>
            <a:ext cx="263347" cy="263347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7"/>
          <p:cNvSpPr/>
          <p:nvPr/>
        </p:nvSpPr>
        <p:spPr>
          <a:xfrm>
            <a:off x="1554480" y="1993392"/>
            <a:ext cx="21945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600"/>
              <a:buFont typeface="Calibri"/>
              <a:buNone/>
            </a:pPr>
            <a:r>
              <a:rPr b="1" i="0" lang="en-US" sz="1600" u="none" cap="none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Cliente</a:t>
            </a:r>
            <a:endParaRPr b="0" i="0" sz="1600" u="non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7"/>
          <p:cNvSpPr/>
          <p:nvPr/>
        </p:nvSpPr>
        <p:spPr>
          <a:xfrm>
            <a:off x="868680" y="2606040"/>
            <a:ext cx="278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9A900"/>
              </a:buClr>
              <a:buSzPts val="1150"/>
              <a:buFont typeface="Calibri"/>
              <a:buNone/>
            </a:pPr>
            <a:r>
              <a:rPr b="1" i="0" lang="en-US" sz="1150" u="none" cap="none">
                <a:solidFill>
                  <a:srgbClr val="39A900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0" i="0" lang="en-US" sz="1150" u="none" cap="none">
                <a:solidFill>
                  <a:srgbClr val="22292E"/>
                </a:solidFill>
                <a:latin typeface="Calibri"/>
                <a:ea typeface="Calibri"/>
                <a:cs typeface="Calibri"/>
                <a:sym typeface="Calibri"/>
              </a:rPr>
              <a:t>Registro e inicio de sesión</a:t>
            </a:r>
            <a:endParaRPr b="0" i="0" sz="1150" u="non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7"/>
          <p:cNvSpPr/>
          <p:nvPr/>
        </p:nvSpPr>
        <p:spPr>
          <a:xfrm>
            <a:off x="868680" y="3227832"/>
            <a:ext cx="278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9A900"/>
              </a:buClr>
              <a:buSzPts val="1150"/>
              <a:buFont typeface="Calibri"/>
              <a:buNone/>
            </a:pPr>
            <a:r>
              <a:rPr b="1" i="0" lang="en-US" sz="1150" u="none" cap="none">
                <a:solidFill>
                  <a:srgbClr val="39A900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0" i="0" lang="en-US" sz="1150" u="none" cap="none">
                <a:solidFill>
                  <a:srgbClr val="22292E"/>
                </a:solidFill>
                <a:latin typeface="Calibri"/>
                <a:ea typeface="Calibri"/>
                <a:cs typeface="Calibri"/>
                <a:sym typeface="Calibri"/>
              </a:rPr>
              <a:t>Ver catálogo y buscar productos</a:t>
            </a:r>
            <a:endParaRPr b="0" i="0" sz="1150" u="non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7"/>
          <p:cNvSpPr/>
          <p:nvPr/>
        </p:nvSpPr>
        <p:spPr>
          <a:xfrm>
            <a:off x="868680" y="3849624"/>
            <a:ext cx="278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9A900"/>
              </a:buClr>
              <a:buSzPts val="1150"/>
              <a:buFont typeface="Calibri"/>
              <a:buNone/>
            </a:pPr>
            <a:r>
              <a:rPr b="1" i="0" lang="en-US" sz="1150" u="none" cap="none">
                <a:solidFill>
                  <a:srgbClr val="39A900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0" i="0" lang="en-US" sz="1150" u="none" cap="none">
                <a:solidFill>
                  <a:srgbClr val="22292E"/>
                </a:solidFill>
                <a:latin typeface="Calibri"/>
                <a:ea typeface="Calibri"/>
                <a:cs typeface="Calibri"/>
                <a:sym typeface="Calibri"/>
              </a:rPr>
              <a:t>Filtrar por categoría, talla y estado</a:t>
            </a:r>
            <a:endParaRPr b="0" i="0" sz="1150" u="non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7"/>
          <p:cNvSpPr/>
          <p:nvPr/>
        </p:nvSpPr>
        <p:spPr>
          <a:xfrm>
            <a:off x="868680" y="4471416"/>
            <a:ext cx="278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9A900"/>
              </a:buClr>
              <a:buSzPts val="1150"/>
              <a:buFont typeface="Calibri"/>
              <a:buNone/>
            </a:pPr>
            <a:r>
              <a:rPr b="1" i="0" lang="en-US" sz="1150" u="none" cap="none">
                <a:solidFill>
                  <a:srgbClr val="39A900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0" i="0" lang="en-US" sz="1150" u="none" cap="none">
                <a:solidFill>
                  <a:srgbClr val="22292E"/>
                </a:solidFill>
                <a:latin typeface="Calibri"/>
                <a:ea typeface="Calibri"/>
                <a:cs typeface="Calibri"/>
                <a:sym typeface="Calibri"/>
              </a:rPr>
              <a:t>Agregar al carrito y comprar</a:t>
            </a:r>
            <a:endParaRPr b="0" i="0" sz="1150" u="non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7"/>
          <p:cNvSpPr/>
          <p:nvPr/>
        </p:nvSpPr>
        <p:spPr>
          <a:xfrm>
            <a:off x="868680" y="5093208"/>
            <a:ext cx="278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9A900"/>
              </a:buClr>
              <a:buSzPts val="1150"/>
              <a:buFont typeface="Calibri"/>
              <a:buNone/>
            </a:pPr>
            <a:r>
              <a:rPr b="1" i="0" lang="en-US" sz="1150" u="none" cap="none">
                <a:solidFill>
                  <a:srgbClr val="39A900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0" i="0" lang="en-US" sz="1150" u="none" cap="none">
                <a:solidFill>
                  <a:srgbClr val="22292E"/>
                </a:solidFill>
                <a:latin typeface="Calibri"/>
                <a:ea typeface="Calibri"/>
                <a:cs typeface="Calibri"/>
                <a:sym typeface="Calibri"/>
              </a:rPr>
              <a:t>Consultar estado de pedidos</a:t>
            </a:r>
            <a:endParaRPr b="0" i="0" sz="1150" u="non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7"/>
          <p:cNvSpPr/>
          <p:nvPr/>
        </p:nvSpPr>
        <p:spPr>
          <a:xfrm>
            <a:off x="4160520" y="1645920"/>
            <a:ext cx="3383400" cy="4480500"/>
          </a:xfrm>
          <a:prstGeom prst="roundRect">
            <a:avLst>
              <a:gd fmla="val 2162" name="adj"/>
            </a:avLst>
          </a:prstGeom>
          <a:solidFill>
            <a:srgbClr val="EDF6E8"/>
          </a:solidFill>
          <a:ln>
            <a:noFill/>
          </a:ln>
          <a:effectLst>
            <a:outerShdw blurRad="101600" rotWithShape="0" algn="bl" dir="5400000" dist="38100">
              <a:srgbClr val="1A1A1A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7"/>
          <p:cNvSpPr/>
          <p:nvPr/>
        </p:nvSpPr>
        <p:spPr>
          <a:xfrm>
            <a:off x="4480560" y="1920240"/>
            <a:ext cx="548700" cy="5487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3" name="Google Shape;303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23206" y="2062886"/>
            <a:ext cx="263347" cy="263347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7"/>
          <p:cNvSpPr/>
          <p:nvPr/>
        </p:nvSpPr>
        <p:spPr>
          <a:xfrm>
            <a:off x="5166360" y="1993392"/>
            <a:ext cx="2286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600"/>
              <a:buFont typeface="Calibri"/>
              <a:buNone/>
            </a:pPr>
            <a:r>
              <a:rPr b="1" i="0" lang="en-US" sz="1600" u="none" cap="none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Administrador</a:t>
            </a:r>
            <a:endParaRPr b="0" i="0" sz="1600" u="non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7"/>
          <p:cNvSpPr/>
          <p:nvPr/>
        </p:nvSpPr>
        <p:spPr>
          <a:xfrm>
            <a:off x="4480560" y="2606040"/>
            <a:ext cx="278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9A900"/>
              </a:buClr>
              <a:buSzPts val="1150"/>
              <a:buFont typeface="Calibri"/>
              <a:buNone/>
            </a:pPr>
            <a:r>
              <a:rPr b="1" i="0" lang="en-US" sz="1150" u="none" cap="none">
                <a:solidFill>
                  <a:srgbClr val="39A900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0" i="0" lang="en-US" sz="1150" u="none" cap="none">
                <a:solidFill>
                  <a:srgbClr val="22292E"/>
                </a:solidFill>
                <a:latin typeface="Calibri"/>
                <a:ea typeface="Calibri"/>
                <a:cs typeface="Calibri"/>
                <a:sym typeface="Calibri"/>
              </a:rPr>
              <a:t>Gestionar productos (CRUD)</a:t>
            </a:r>
            <a:endParaRPr b="0" i="0" sz="1150" u="non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7"/>
          <p:cNvSpPr/>
          <p:nvPr/>
        </p:nvSpPr>
        <p:spPr>
          <a:xfrm>
            <a:off x="4480560" y="3227832"/>
            <a:ext cx="278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9A900"/>
              </a:buClr>
              <a:buSzPts val="1150"/>
              <a:buFont typeface="Calibri"/>
              <a:buNone/>
            </a:pPr>
            <a:r>
              <a:rPr b="1" i="0" lang="en-US" sz="1150" u="none" cap="none">
                <a:solidFill>
                  <a:srgbClr val="39A900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0" i="0" lang="en-US" sz="1150" u="none" cap="none">
                <a:solidFill>
                  <a:srgbClr val="22292E"/>
                </a:solidFill>
                <a:latin typeface="Calibri"/>
                <a:ea typeface="Calibri"/>
                <a:cs typeface="Calibri"/>
                <a:sym typeface="Calibri"/>
              </a:rPr>
              <a:t>Administrar inventario</a:t>
            </a:r>
            <a:endParaRPr b="0" i="0" sz="1150" u="non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7"/>
          <p:cNvSpPr/>
          <p:nvPr/>
        </p:nvSpPr>
        <p:spPr>
          <a:xfrm>
            <a:off x="4480560" y="3849624"/>
            <a:ext cx="278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9A900"/>
              </a:buClr>
              <a:buSzPts val="1150"/>
              <a:buFont typeface="Calibri"/>
              <a:buNone/>
            </a:pPr>
            <a:r>
              <a:rPr b="1" i="0" lang="en-US" sz="1150" u="none" cap="none">
                <a:solidFill>
                  <a:srgbClr val="39A900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0" i="0" lang="en-US" sz="1150" u="none" cap="none">
                <a:solidFill>
                  <a:srgbClr val="22292E"/>
                </a:solidFill>
                <a:latin typeface="Calibri"/>
                <a:ea typeface="Calibri"/>
                <a:cs typeface="Calibri"/>
                <a:sym typeface="Calibri"/>
              </a:rPr>
              <a:t>Gestionar usuarios y roles</a:t>
            </a:r>
            <a:endParaRPr b="0" i="0" sz="1150" u="non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7"/>
          <p:cNvSpPr/>
          <p:nvPr/>
        </p:nvSpPr>
        <p:spPr>
          <a:xfrm>
            <a:off x="4480560" y="4471416"/>
            <a:ext cx="278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9A900"/>
              </a:buClr>
              <a:buSzPts val="1150"/>
              <a:buFont typeface="Calibri"/>
              <a:buNone/>
            </a:pPr>
            <a:r>
              <a:rPr b="1" i="0" lang="en-US" sz="1150" u="none" cap="none">
                <a:solidFill>
                  <a:srgbClr val="39A900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0" i="0" lang="en-US" sz="1150" u="none" cap="none">
                <a:solidFill>
                  <a:srgbClr val="22292E"/>
                </a:solidFill>
                <a:latin typeface="Calibri"/>
                <a:ea typeface="Calibri"/>
                <a:cs typeface="Calibri"/>
                <a:sym typeface="Calibri"/>
              </a:rPr>
              <a:t>Ver y gestionar pedidos</a:t>
            </a:r>
            <a:endParaRPr b="0" i="0" sz="1150" u="non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7"/>
          <p:cNvSpPr/>
          <p:nvPr/>
        </p:nvSpPr>
        <p:spPr>
          <a:xfrm>
            <a:off x="4480560" y="5093208"/>
            <a:ext cx="278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9A900"/>
              </a:buClr>
              <a:buSzPts val="1150"/>
              <a:buFont typeface="Calibri"/>
              <a:buNone/>
            </a:pPr>
            <a:r>
              <a:rPr b="1" i="0" lang="en-US" sz="1150" u="none" cap="none">
                <a:solidFill>
                  <a:srgbClr val="39A900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0" i="0" lang="en-US" sz="1150" u="none" cap="none">
                <a:solidFill>
                  <a:srgbClr val="22292E"/>
                </a:solidFill>
                <a:latin typeface="Calibri"/>
                <a:ea typeface="Calibri"/>
                <a:cs typeface="Calibri"/>
                <a:sym typeface="Calibri"/>
              </a:rPr>
              <a:t>Notificaciones en tiempo real</a:t>
            </a:r>
            <a:endParaRPr b="0" i="0" sz="1150" u="non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7"/>
          <p:cNvSpPr/>
          <p:nvPr/>
        </p:nvSpPr>
        <p:spPr>
          <a:xfrm>
            <a:off x="7772400" y="1645920"/>
            <a:ext cx="3931800" cy="4480500"/>
          </a:xfrm>
          <a:prstGeom prst="roundRect">
            <a:avLst>
              <a:gd fmla="val 1860" name="adj"/>
            </a:avLst>
          </a:prstGeom>
          <a:solidFill>
            <a:srgbClr val="00304D"/>
          </a:solidFill>
          <a:ln>
            <a:noFill/>
          </a:ln>
          <a:effectLst>
            <a:outerShdw blurRad="101600" rotWithShape="0" algn="bl" dir="5400000" dist="38100">
              <a:srgbClr val="1A1A1A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7"/>
          <p:cNvSpPr/>
          <p:nvPr/>
        </p:nvSpPr>
        <p:spPr>
          <a:xfrm>
            <a:off x="8092440" y="1920240"/>
            <a:ext cx="548700" cy="548700"/>
          </a:xfrm>
          <a:prstGeom prst="ellipse">
            <a:avLst/>
          </a:prstGeom>
          <a:solidFill>
            <a:srgbClr val="FDC3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2" name="Google Shape;312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35086" y="2062886"/>
            <a:ext cx="263347" cy="263347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7"/>
          <p:cNvSpPr/>
          <p:nvPr/>
        </p:nvSpPr>
        <p:spPr>
          <a:xfrm>
            <a:off x="8778240" y="1993392"/>
            <a:ext cx="2743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Alcance tecnológico</a:t>
            </a:r>
            <a:endParaRPr b="0" i="0" sz="1500" u="non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7"/>
          <p:cNvSpPr/>
          <p:nvPr/>
        </p:nvSpPr>
        <p:spPr>
          <a:xfrm>
            <a:off x="8092440" y="2606040"/>
            <a:ext cx="3429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C300"/>
              </a:buClr>
              <a:buSzPts val="1150"/>
              <a:buFont typeface="Calibri"/>
              <a:buNone/>
            </a:pPr>
            <a:r>
              <a:rPr b="1" i="0" lang="en-US" sz="1150" u="none" cap="none">
                <a:solidFill>
                  <a:srgbClr val="FDC300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0" i="0" lang="en-US" sz="1150" u="none" cap="none">
                <a:solidFill>
                  <a:srgbClr val="E4EEF3"/>
                </a:solidFill>
                <a:latin typeface="Calibri"/>
                <a:ea typeface="Calibri"/>
                <a:cs typeface="Calibri"/>
                <a:sym typeface="Calibri"/>
              </a:rPr>
              <a:t>Plataforma web adaptable (responsive)</a:t>
            </a:r>
            <a:endParaRPr b="0" i="0" sz="1150" u="non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7"/>
          <p:cNvSpPr/>
          <p:nvPr/>
        </p:nvSpPr>
        <p:spPr>
          <a:xfrm>
            <a:off x="8092440" y="3227832"/>
            <a:ext cx="3429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C300"/>
              </a:buClr>
              <a:buSzPts val="1150"/>
              <a:buFont typeface="Calibri"/>
              <a:buNone/>
            </a:pPr>
            <a:r>
              <a:rPr b="1" i="0" lang="en-US" sz="1150" u="none" cap="none">
                <a:solidFill>
                  <a:srgbClr val="FDC300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0" i="0" lang="en-US" sz="1150" u="none" cap="none">
                <a:solidFill>
                  <a:srgbClr val="E4EEF3"/>
                </a:solidFill>
                <a:latin typeface="Calibri"/>
                <a:ea typeface="Calibri"/>
                <a:cs typeface="Calibri"/>
                <a:sym typeface="Calibri"/>
              </a:rPr>
              <a:t>Arquitectura cliente–servidor</a:t>
            </a:r>
            <a:endParaRPr b="0" i="0" sz="1150" u="non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7"/>
          <p:cNvSpPr/>
          <p:nvPr/>
        </p:nvSpPr>
        <p:spPr>
          <a:xfrm>
            <a:off x="8092440" y="3849624"/>
            <a:ext cx="3429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C300"/>
              </a:buClr>
              <a:buSzPts val="1150"/>
              <a:buFont typeface="Calibri"/>
              <a:buNone/>
            </a:pPr>
            <a:r>
              <a:rPr b="1" i="0" lang="en-US" sz="1150" u="none" cap="none">
                <a:solidFill>
                  <a:srgbClr val="FDC300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0" i="0" lang="en-US" sz="1150" u="none" cap="none">
                <a:solidFill>
                  <a:srgbClr val="E4EEF3"/>
                </a:solidFill>
                <a:latin typeface="Calibri"/>
                <a:ea typeface="Calibri"/>
                <a:cs typeface="Calibri"/>
                <a:sym typeface="Calibri"/>
              </a:rPr>
              <a:t>Base de datos relacional</a:t>
            </a:r>
            <a:endParaRPr b="0" i="0" sz="1150" u="non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7"/>
          <p:cNvSpPr/>
          <p:nvPr/>
        </p:nvSpPr>
        <p:spPr>
          <a:xfrm>
            <a:off x="8092440" y="4471416"/>
            <a:ext cx="3429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C300"/>
              </a:buClr>
              <a:buSzPts val="1150"/>
              <a:buFont typeface="Calibri"/>
              <a:buNone/>
            </a:pPr>
            <a:r>
              <a:rPr b="1" i="0" lang="en-US" sz="1150" u="none" cap="none">
                <a:solidFill>
                  <a:srgbClr val="FDC300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0" i="0" lang="en-US" sz="1150" u="none" cap="none">
                <a:solidFill>
                  <a:srgbClr val="E4EEF3"/>
                </a:solidFill>
                <a:latin typeface="Calibri"/>
                <a:ea typeface="Calibri"/>
                <a:cs typeface="Calibri"/>
                <a:sym typeface="Calibri"/>
              </a:rPr>
              <a:t>Integración con servicios en la nube (Azure)</a:t>
            </a:r>
            <a:endParaRPr b="0" i="0" sz="1150" u="non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7"/>
          <p:cNvSpPr/>
          <p:nvPr/>
        </p:nvSpPr>
        <p:spPr>
          <a:xfrm>
            <a:off x="8092440" y="5093208"/>
            <a:ext cx="3429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C300"/>
              </a:buClr>
              <a:buSzPts val="1150"/>
              <a:buFont typeface="Calibri"/>
              <a:buNone/>
            </a:pPr>
            <a:r>
              <a:rPr b="1" i="0" lang="en-US" sz="1150" u="none" cap="none">
                <a:solidFill>
                  <a:srgbClr val="FDC300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0" i="0" lang="en-US" sz="1150" u="none" cap="none">
                <a:solidFill>
                  <a:srgbClr val="E4EEF3"/>
                </a:solidFill>
                <a:latin typeface="Calibri"/>
                <a:ea typeface="Calibri"/>
                <a:cs typeface="Calibri"/>
                <a:sym typeface="Calibri"/>
              </a:rPr>
              <a:t>Enfoque en una sola tienda</a:t>
            </a:r>
            <a:endParaRPr b="0" i="0" sz="1150" u="non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8"/>
          <p:cNvSpPr/>
          <p:nvPr/>
        </p:nvSpPr>
        <p:spPr>
          <a:xfrm>
            <a:off x="548640" y="384048"/>
            <a:ext cx="9144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9A900"/>
              </a:buClr>
              <a:buSzPts val="1300"/>
              <a:buFont typeface="Calibri"/>
              <a:buNone/>
            </a:pPr>
            <a:r>
              <a:rPr b="1" i="0" lang="en-US" sz="1300" u="none" cap="none">
                <a:solidFill>
                  <a:srgbClr val="39A900"/>
                </a:solidFill>
                <a:latin typeface="Calibri"/>
                <a:ea typeface="Calibri"/>
                <a:cs typeface="Calibri"/>
                <a:sym typeface="Calibri"/>
              </a:rPr>
              <a:t>CÓMO TRABAJAMOS</a:t>
            </a:r>
            <a:endParaRPr b="0" i="0" sz="1300" u="non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8"/>
          <p:cNvSpPr/>
          <p:nvPr/>
        </p:nvSpPr>
        <p:spPr>
          <a:xfrm>
            <a:off x="548640" y="658368"/>
            <a:ext cx="107898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3000"/>
              <a:buFont typeface="Cambria"/>
              <a:buNone/>
            </a:pPr>
            <a:r>
              <a:rPr b="1" lang="en-US" sz="3600">
                <a:solidFill>
                  <a:srgbClr val="38AA00"/>
                </a:solidFill>
                <a:latin typeface="Work Sans"/>
                <a:ea typeface="Work Sans"/>
                <a:cs typeface="Work Sans"/>
                <a:sym typeface="Work Sans"/>
              </a:rPr>
              <a:t>Metodología ágil: Scrum</a:t>
            </a:r>
            <a:endParaRPr/>
          </a:p>
        </p:txBody>
      </p:sp>
      <p:sp>
        <p:nvSpPr>
          <p:cNvPr id="326" name="Google Shape;326;p8"/>
          <p:cNvSpPr/>
          <p:nvPr/>
        </p:nvSpPr>
        <p:spPr>
          <a:xfrm>
            <a:off x="548640" y="1600200"/>
            <a:ext cx="106071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92E"/>
              </a:buClr>
              <a:buSzPts val="1350"/>
              <a:buFont typeface="Calibri"/>
              <a:buNone/>
            </a:pPr>
            <a:r>
              <a:rPr b="0" i="0" lang="en-US" sz="1350" u="none" cap="none">
                <a:solidFill>
                  <a:srgbClr val="22292E"/>
                </a:solidFill>
                <a:latin typeface="Calibri"/>
                <a:ea typeface="Calibri"/>
                <a:cs typeface="Calibri"/>
                <a:sym typeface="Calibri"/>
              </a:rPr>
              <a:t>El proyecto se desarrolló bajo un ciclo de vida iterativo e incremental (Scrum), permitiendo incorporar mejoras y nuevas funcionalidades de forma progresiva a lo largo de 6 meses.</a:t>
            </a:r>
            <a:endParaRPr b="0" i="0" sz="1350" u="non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8"/>
          <p:cNvSpPr/>
          <p:nvPr/>
        </p:nvSpPr>
        <p:spPr>
          <a:xfrm>
            <a:off x="548640" y="2423160"/>
            <a:ext cx="3429000" cy="1234500"/>
          </a:xfrm>
          <a:prstGeom prst="roundRect">
            <a:avLst>
              <a:gd fmla="val 5926" name="adj"/>
            </a:avLst>
          </a:prstGeom>
          <a:solidFill>
            <a:srgbClr val="F6F6F6"/>
          </a:solidFill>
          <a:ln>
            <a:noFill/>
          </a:ln>
          <a:effectLst>
            <a:outerShdw blurRad="101600" rotWithShape="0" algn="bl" dir="5400000" dist="38100">
              <a:srgbClr val="1A1A1A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8"/>
          <p:cNvSpPr/>
          <p:nvPr/>
        </p:nvSpPr>
        <p:spPr>
          <a:xfrm>
            <a:off x="713232" y="2587752"/>
            <a:ext cx="548700" cy="548700"/>
          </a:xfrm>
          <a:prstGeom prst="ellipse">
            <a:avLst/>
          </a:prstGeom>
          <a:solidFill>
            <a:srgbClr val="0030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9" name="Google Shape;32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5878" y="2730398"/>
            <a:ext cx="263347" cy="263347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8"/>
          <p:cNvSpPr/>
          <p:nvPr/>
        </p:nvSpPr>
        <p:spPr>
          <a:xfrm>
            <a:off x="1417320" y="2542032"/>
            <a:ext cx="2423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250"/>
              <a:buFont typeface="Calibri"/>
              <a:buNone/>
            </a:pPr>
            <a:r>
              <a:rPr b="1" i="0" lang="en-US" sz="1250" u="none" cap="none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Darikson Cortes</a:t>
            </a:r>
            <a:endParaRPr b="0" i="0" sz="1250" u="non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8"/>
          <p:cNvSpPr/>
          <p:nvPr/>
        </p:nvSpPr>
        <p:spPr>
          <a:xfrm>
            <a:off x="1417320" y="2798064"/>
            <a:ext cx="2423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9A900"/>
              </a:buClr>
              <a:buSzPts val="1050"/>
              <a:buFont typeface="Calibri"/>
              <a:buNone/>
            </a:pPr>
            <a:r>
              <a:rPr b="1" i="0" lang="en-US" sz="1050" u="none" cap="none">
                <a:solidFill>
                  <a:srgbClr val="39A900"/>
                </a:solidFill>
                <a:latin typeface="Calibri"/>
                <a:ea typeface="Calibri"/>
                <a:cs typeface="Calibri"/>
                <a:sym typeface="Calibri"/>
              </a:rPr>
              <a:t>Product Owner</a:t>
            </a:r>
            <a:endParaRPr b="0" i="0" sz="1050" u="non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8"/>
          <p:cNvSpPr/>
          <p:nvPr/>
        </p:nvSpPr>
        <p:spPr>
          <a:xfrm>
            <a:off x="713232" y="3246120"/>
            <a:ext cx="3108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980"/>
              <a:buFont typeface="Calibri"/>
              <a:buNone/>
            </a:pPr>
            <a:r>
              <a:rPr b="0" i="0" lang="en-US" sz="980" u="none" cap="non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Define y prioriza el backlog</a:t>
            </a:r>
            <a:endParaRPr b="0" i="0" sz="980" u="non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8"/>
          <p:cNvSpPr/>
          <p:nvPr/>
        </p:nvSpPr>
        <p:spPr>
          <a:xfrm>
            <a:off x="4133088" y="2423160"/>
            <a:ext cx="3429000" cy="1234500"/>
          </a:xfrm>
          <a:prstGeom prst="roundRect">
            <a:avLst>
              <a:gd fmla="val 5926" name="adj"/>
            </a:avLst>
          </a:prstGeom>
          <a:solidFill>
            <a:srgbClr val="F6F6F6"/>
          </a:solidFill>
          <a:ln>
            <a:noFill/>
          </a:ln>
          <a:effectLst>
            <a:outerShdw blurRad="101600" rotWithShape="0" algn="bl" dir="5400000" dist="38100">
              <a:srgbClr val="1A1A1A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8"/>
          <p:cNvSpPr/>
          <p:nvPr/>
        </p:nvSpPr>
        <p:spPr>
          <a:xfrm>
            <a:off x="4297680" y="2587752"/>
            <a:ext cx="548700" cy="548700"/>
          </a:xfrm>
          <a:prstGeom prst="ellipse">
            <a:avLst/>
          </a:prstGeom>
          <a:solidFill>
            <a:srgbClr val="0030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5" name="Google Shape;335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40326" y="2730398"/>
            <a:ext cx="263347" cy="263347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8"/>
          <p:cNvSpPr/>
          <p:nvPr/>
        </p:nvSpPr>
        <p:spPr>
          <a:xfrm>
            <a:off x="5001768" y="2542032"/>
            <a:ext cx="2423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250"/>
              <a:buFont typeface="Calibri"/>
              <a:buNone/>
            </a:pPr>
            <a:r>
              <a:rPr b="1" i="0" lang="en-US" sz="1250" u="none" cap="none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Cristian Martinez</a:t>
            </a:r>
            <a:endParaRPr b="0" i="0" sz="1250" u="non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8"/>
          <p:cNvSpPr/>
          <p:nvPr/>
        </p:nvSpPr>
        <p:spPr>
          <a:xfrm>
            <a:off x="5001768" y="2798064"/>
            <a:ext cx="2423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9A900"/>
              </a:buClr>
              <a:buSzPts val="1050"/>
              <a:buFont typeface="Calibri"/>
              <a:buNone/>
            </a:pPr>
            <a:r>
              <a:rPr b="1" i="0" lang="en-US" sz="1050" u="none" cap="none">
                <a:solidFill>
                  <a:srgbClr val="39A900"/>
                </a:solidFill>
                <a:latin typeface="Calibri"/>
                <a:ea typeface="Calibri"/>
                <a:cs typeface="Calibri"/>
                <a:sym typeface="Calibri"/>
              </a:rPr>
              <a:t>Scrum Master</a:t>
            </a:r>
            <a:endParaRPr b="0" i="0" sz="1050" u="non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8"/>
          <p:cNvSpPr/>
          <p:nvPr/>
        </p:nvSpPr>
        <p:spPr>
          <a:xfrm>
            <a:off x="4297680" y="3246120"/>
            <a:ext cx="3108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980"/>
              <a:buFont typeface="Calibri"/>
              <a:buNone/>
            </a:pPr>
            <a:r>
              <a:rPr b="0" i="0" lang="en-US" sz="980" u="none" cap="non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Facilita el proceso ágil del equipo</a:t>
            </a:r>
            <a:endParaRPr b="0" i="0" sz="980" u="non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8"/>
          <p:cNvSpPr/>
          <p:nvPr/>
        </p:nvSpPr>
        <p:spPr>
          <a:xfrm>
            <a:off x="7717536" y="2423160"/>
            <a:ext cx="3429000" cy="1234500"/>
          </a:xfrm>
          <a:prstGeom prst="roundRect">
            <a:avLst>
              <a:gd fmla="val 5926" name="adj"/>
            </a:avLst>
          </a:prstGeom>
          <a:solidFill>
            <a:srgbClr val="F6F6F6"/>
          </a:solidFill>
          <a:ln>
            <a:noFill/>
          </a:ln>
          <a:effectLst>
            <a:outerShdw blurRad="101600" rotWithShape="0" algn="bl" dir="5400000" dist="38100">
              <a:srgbClr val="1A1A1A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8"/>
          <p:cNvSpPr/>
          <p:nvPr/>
        </p:nvSpPr>
        <p:spPr>
          <a:xfrm>
            <a:off x="7882128" y="2587752"/>
            <a:ext cx="548700" cy="548700"/>
          </a:xfrm>
          <a:prstGeom prst="ellipse">
            <a:avLst/>
          </a:prstGeom>
          <a:solidFill>
            <a:srgbClr val="0030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1" name="Google Shape;341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24774" y="2730398"/>
            <a:ext cx="263347" cy="263347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8"/>
          <p:cNvSpPr/>
          <p:nvPr/>
        </p:nvSpPr>
        <p:spPr>
          <a:xfrm>
            <a:off x="8586216" y="2542032"/>
            <a:ext cx="2423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250"/>
              <a:buFont typeface="Calibri"/>
              <a:buNone/>
            </a:pPr>
            <a:r>
              <a:rPr b="1" i="0" lang="en-US" sz="1250" u="none" cap="none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Miguel Caceres</a:t>
            </a:r>
            <a:endParaRPr b="0" i="0" sz="1250" u="non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8"/>
          <p:cNvSpPr/>
          <p:nvPr/>
        </p:nvSpPr>
        <p:spPr>
          <a:xfrm>
            <a:off x="8586216" y="2798064"/>
            <a:ext cx="2423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9A900"/>
              </a:buClr>
              <a:buSzPts val="1050"/>
              <a:buFont typeface="Calibri"/>
              <a:buNone/>
            </a:pPr>
            <a:r>
              <a:rPr b="1" i="0" lang="en-US" sz="1050" u="none" cap="none">
                <a:solidFill>
                  <a:srgbClr val="39A900"/>
                </a:solidFill>
                <a:latin typeface="Calibri"/>
                <a:ea typeface="Calibri"/>
                <a:cs typeface="Calibri"/>
                <a:sym typeface="Calibri"/>
              </a:rPr>
              <a:t>Development Leader</a:t>
            </a:r>
            <a:endParaRPr b="0" i="0" sz="1050" u="non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8"/>
          <p:cNvSpPr/>
          <p:nvPr/>
        </p:nvSpPr>
        <p:spPr>
          <a:xfrm>
            <a:off x="7882128" y="3246120"/>
            <a:ext cx="3108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980"/>
              <a:buFont typeface="Calibri"/>
              <a:buNone/>
            </a:pPr>
            <a:r>
              <a:rPr b="0" i="0" lang="en-US" sz="980" u="none" cap="non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Lidera la construcción técnica</a:t>
            </a:r>
            <a:endParaRPr b="0" i="0" sz="980" u="non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8"/>
          <p:cNvSpPr/>
          <p:nvPr/>
        </p:nvSpPr>
        <p:spPr>
          <a:xfrm>
            <a:off x="548640" y="3977640"/>
            <a:ext cx="5486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500"/>
              <a:buFont typeface="Calibri"/>
              <a:buNone/>
            </a:pPr>
            <a:r>
              <a:rPr b="1" i="0" lang="en-US" sz="1500" u="none" cap="none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Proceso de desarrollo</a:t>
            </a:r>
            <a:endParaRPr b="0" i="0" sz="1500" u="non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8"/>
          <p:cNvSpPr/>
          <p:nvPr/>
        </p:nvSpPr>
        <p:spPr>
          <a:xfrm>
            <a:off x="548640" y="4434840"/>
            <a:ext cx="1615500" cy="594300"/>
          </a:xfrm>
          <a:prstGeom prst="roundRect">
            <a:avLst>
              <a:gd fmla="val 9231" name="adj"/>
            </a:avLst>
          </a:prstGeom>
          <a:solidFill>
            <a:srgbClr val="39A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8"/>
          <p:cNvSpPr/>
          <p:nvPr/>
        </p:nvSpPr>
        <p:spPr>
          <a:xfrm>
            <a:off x="548640" y="4434840"/>
            <a:ext cx="16155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Requisitos</a:t>
            </a:r>
            <a:endParaRPr b="0" i="0" sz="1100" u="non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8"/>
          <p:cNvSpPr/>
          <p:nvPr/>
        </p:nvSpPr>
        <p:spPr>
          <a:xfrm>
            <a:off x="2164080" y="4434840"/>
            <a:ext cx="1830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400"/>
              <a:buFont typeface="Calibri"/>
              <a:buNone/>
            </a:pPr>
            <a:r>
              <a:rPr b="0" i="0" lang="en-US" sz="1400" u="none" cap="non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400" u="non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8"/>
          <p:cNvSpPr/>
          <p:nvPr/>
        </p:nvSpPr>
        <p:spPr>
          <a:xfrm>
            <a:off x="2346960" y="4434840"/>
            <a:ext cx="1615500" cy="594300"/>
          </a:xfrm>
          <a:prstGeom prst="roundRect">
            <a:avLst>
              <a:gd fmla="val 9231" name="adj"/>
            </a:avLst>
          </a:prstGeom>
          <a:solidFill>
            <a:srgbClr val="0030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8"/>
          <p:cNvSpPr/>
          <p:nvPr/>
        </p:nvSpPr>
        <p:spPr>
          <a:xfrm>
            <a:off x="2346960" y="4434840"/>
            <a:ext cx="16155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Diseño</a:t>
            </a:r>
            <a:endParaRPr b="0" i="0" sz="1100" u="non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8"/>
          <p:cNvSpPr/>
          <p:nvPr/>
        </p:nvSpPr>
        <p:spPr>
          <a:xfrm>
            <a:off x="3962400" y="4434840"/>
            <a:ext cx="1830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400"/>
              <a:buFont typeface="Calibri"/>
              <a:buNone/>
            </a:pPr>
            <a:r>
              <a:rPr b="0" i="0" lang="en-US" sz="1400" u="none" cap="non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400" u="non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8"/>
          <p:cNvSpPr/>
          <p:nvPr/>
        </p:nvSpPr>
        <p:spPr>
          <a:xfrm>
            <a:off x="4145280" y="4434840"/>
            <a:ext cx="1615500" cy="594300"/>
          </a:xfrm>
          <a:prstGeom prst="roundRect">
            <a:avLst>
              <a:gd fmla="val 9231" name="adj"/>
            </a:avLst>
          </a:prstGeom>
          <a:solidFill>
            <a:srgbClr val="39A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8"/>
          <p:cNvSpPr/>
          <p:nvPr/>
        </p:nvSpPr>
        <p:spPr>
          <a:xfrm>
            <a:off x="4145280" y="4434840"/>
            <a:ext cx="16155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Implementación</a:t>
            </a:r>
            <a:endParaRPr b="0" i="0" sz="1100" u="non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8"/>
          <p:cNvSpPr/>
          <p:nvPr/>
        </p:nvSpPr>
        <p:spPr>
          <a:xfrm>
            <a:off x="5760720" y="4434840"/>
            <a:ext cx="1830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400"/>
              <a:buFont typeface="Calibri"/>
              <a:buNone/>
            </a:pPr>
            <a:r>
              <a:rPr b="0" i="0" lang="en-US" sz="1400" u="none" cap="non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400" u="non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8"/>
          <p:cNvSpPr/>
          <p:nvPr/>
        </p:nvSpPr>
        <p:spPr>
          <a:xfrm>
            <a:off x="5943600" y="4434840"/>
            <a:ext cx="1615500" cy="594300"/>
          </a:xfrm>
          <a:prstGeom prst="roundRect">
            <a:avLst>
              <a:gd fmla="val 9231" name="adj"/>
            </a:avLst>
          </a:prstGeom>
          <a:solidFill>
            <a:srgbClr val="0030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8"/>
          <p:cNvSpPr/>
          <p:nvPr/>
        </p:nvSpPr>
        <p:spPr>
          <a:xfrm>
            <a:off x="5943600" y="4434840"/>
            <a:ext cx="16155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Integración</a:t>
            </a:r>
            <a:endParaRPr b="0" i="0" sz="1100" u="non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8"/>
          <p:cNvSpPr/>
          <p:nvPr/>
        </p:nvSpPr>
        <p:spPr>
          <a:xfrm>
            <a:off x="7559040" y="4434840"/>
            <a:ext cx="1830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400"/>
              <a:buFont typeface="Calibri"/>
              <a:buNone/>
            </a:pPr>
            <a:r>
              <a:rPr b="0" i="0" lang="en-US" sz="1400" u="none" cap="non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400" u="non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8"/>
          <p:cNvSpPr/>
          <p:nvPr/>
        </p:nvSpPr>
        <p:spPr>
          <a:xfrm>
            <a:off x="7741920" y="4434840"/>
            <a:ext cx="1615500" cy="594300"/>
          </a:xfrm>
          <a:prstGeom prst="roundRect">
            <a:avLst>
              <a:gd fmla="val 9231" name="adj"/>
            </a:avLst>
          </a:prstGeom>
          <a:solidFill>
            <a:srgbClr val="39A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8"/>
          <p:cNvSpPr/>
          <p:nvPr/>
        </p:nvSpPr>
        <p:spPr>
          <a:xfrm>
            <a:off x="7741920" y="4434840"/>
            <a:ext cx="16155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Pruebas</a:t>
            </a:r>
            <a:endParaRPr b="0" i="0" sz="1100" u="non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8"/>
          <p:cNvSpPr/>
          <p:nvPr/>
        </p:nvSpPr>
        <p:spPr>
          <a:xfrm>
            <a:off x="9357360" y="4434840"/>
            <a:ext cx="1830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400"/>
              <a:buFont typeface="Calibri"/>
              <a:buNone/>
            </a:pPr>
            <a:r>
              <a:rPr b="0" i="0" lang="en-US" sz="1400" u="none" cap="non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400" u="non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8"/>
          <p:cNvSpPr/>
          <p:nvPr/>
        </p:nvSpPr>
        <p:spPr>
          <a:xfrm>
            <a:off x="9540240" y="4434840"/>
            <a:ext cx="1615500" cy="594300"/>
          </a:xfrm>
          <a:prstGeom prst="roundRect">
            <a:avLst>
              <a:gd fmla="val 9231" name="adj"/>
            </a:avLst>
          </a:prstGeom>
          <a:solidFill>
            <a:srgbClr val="0030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8"/>
          <p:cNvSpPr/>
          <p:nvPr/>
        </p:nvSpPr>
        <p:spPr>
          <a:xfrm>
            <a:off x="9540240" y="4434840"/>
            <a:ext cx="16155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Despliegue</a:t>
            </a:r>
            <a:endParaRPr b="0" i="0" sz="1100" u="non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8"/>
          <p:cNvSpPr/>
          <p:nvPr/>
        </p:nvSpPr>
        <p:spPr>
          <a:xfrm>
            <a:off x="548640" y="5349240"/>
            <a:ext cx="10607100" cy="777300"/>
          </a:xfrm>
          <a:prstGeom prst="roundRect">
            <a:avLst>
              <a:gd fmla="val 9412" name="adj"/>
            </a:avLst>
          </a:prstGeom>
          <a:solidFill>
            <a:srgbClr val="FFF3D6"/>
          </a:solidFill>
          <a:ln>
            <a:noFill/>
          </a:ln>
          <a:effectLst>
            <a:outerShdw blurRad="101600" rotWithShape="0" algn="bl" dir="5400000" dist="38100">
              <a:srgbClr val="1A1A1A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8"/>
          <p:cNvSpPr/>
          <p:nvPr/>
        </p:nvSpPr>
        <p:spPr>
          <a:xfrm>
            <a:off x="822960" y="5349240"/>
            <a:ext cx="100584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250"/>
              <a:buFont typeface="Calibri"/>
              <a:buNone/>
            </a:pPr>
            <a:r>
              <a:rPr b="1" i="0" lang="en-US" sz="1250" u="none" cap="none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Control de versiones con Git y GitHub. Despliegue continuo hacia Azure App Service mediante GitHub Actions.</a:t>
            </a:r>
            <a:endParaRPr b="0" i="0" sz="1250" u="non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8"/>
          <p:cNvSpPr/>
          <p:nvPr/>
        </p:nvSpPr>
        <p:spPr>
          <a:xfrm>
            <a:off x="457200" y="1476375"/>
            <a:ext cx="10810875" cy="4714875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7E1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8"/>
          <p:cNvSpPr/>
          <p:nvPr/>
        </p:nvSpPr>
        <p:spPr>
          <a:xfrm>
            <a:off x="819150" y="1809750"/>
            <a:ext cx="59055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32A900"/>
                </a:solidFill>
                <a:latin typeface="Work Sans"/>
                <a:ea typeface="Work Sans"/>
                <a:cs typeface="Work Sans"/>
                <a:sym typeface="Work Sans"/>
              </a:rPr>
              <a:t>Desarrollo del proyecto</a:t>
            </a:r>
            <a:endParaRPr/>
          </a:p>
        </p:txBody>
      </p:sp>
      <p:sp>
        <p:nvSpPr>
          <p:cNvPr id="367" name="Google Shape;367;p8"/>
          <p:cNvSpPr/>
          <p:nvPr/>
        </p:nvSpPr>
        <p:spPr>
          <a:xfrm>
            <a:off x="819150" y="2667000"/>
            <a:ext cx="4953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063B5A"/>
                </a:solidFill>
                <a:latin typeface="Work Sans"/>
                <a:ea typeface="Work Sans"/>
                <a:cs typeface="Work Sans"/>
                <a:sym typeface="Work Sans"/>
              </a:rPr>
              <a:t>Samuel Díaz García</a:t>
            </a:r>
            <a:endParaRPr/>
          </a:p>
        </p:txBody>
      </p:sp>
      <p:sp>
        <p:nvSpPr>
          <p:cNvPr id="368" name="Google Shape;368;p8"/>
          <p:cNvSpPr/>
          <p:nvPr/>
        </p:nvSpPr>
        <p:spPr>
          <a:xfrm>
            <a:off x="819150" y="3190875"/>
            <a:ext cx="49530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50">
                <a:solidFill>
                  <a:srgbClr val="063B5A"/>
                </a:solidFill>
                <a:latin typeface="Work Sans"/>
                <a:ea typeface="Work Sans"/>
                <a:cs typeface="Work Sans"/>
                <a:sym typeface="Work Sans"/>
              </a:rPr>
              <a:t>Desarrollador</a:t>
            </a:r>
            <a:endParaRPr/>
          </a:p>
        </p:txBody>
      </p:sp>
      <p:sp>
        <p:nvSpPr>
          <p:cNvPr id="369" name="Google Shape;369;p8"/>
          <p:cNvSpPr/>
          <p:nvPr/>
        </p:nvSpPr>
        <p:spPr>
          <a:xfrm>
            <a:off x="819150" y="3810000"/>
            <a:ext cx="685800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50">
                <a:solidFill>
                  <a:srgbClr val="063B5A"/>
                </a:solidFill>
                <a:latin typeface="Work Sans"/>
                <a:ea typeface="Work Sans"/>
                <a:cs typeface="Work Sans"/>
                <a:sym typeface="Work Sans"/>
              </a:rPr>
              <a:t>Responsable del análisis, diseño, implementación y pruebas de La Pesquera.</a:t>
            </a:r>
            <a:endParaRPr/>
          </a:p>
        </p:txBody>
      </p:sp>
      <p:sp>
        <p:nvSpPr>
          <p:cNvPr id="370" name="Google Shape;370;p8"/>
          <p:cNvSpPr/>
          <p:nvPr/>
        </p:nvSpPr>
        <p:spPr>
          <a:xfrm>
            <a:off x="819150" y="4953000"/>
            <a:ext cx="40005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87">
                <a:solidFill>
                  <a:srgbClr val="32A900"/>
                </a:solidFill>
                <a:latin typeface="Work Sans"/>
                <a:ea typeface="Work Sans"/>
                <a:cs typeface="Work Sans"/>
                <a:sym typeface="Work Sans"/>
              </a:rPr>
              <a:t>Herramientas de trabajo</a:t>
            </a:r>
            <a:endParaRPr/>
          </a:p>
        </p:txBody>
      </p:sp>
      <p:sp>
        <p:nvSpPr>
          <p:cNvPr id="371" name="Google Shape;371;p8"/>
          <p:cNvSpPr/>
          <p:nvPr/>
        </p:nvSpPr>
        <p:spPr>
          <a:xfrm>
            <a:off x="819150" y="5334000"/>
            <a:ext cx="90487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063B5A"/>
                </a:solidFill>
                <a:latin typeface="Work Sans"/>
                <a:ea typeface="Work Sans"/>
                <a:cs typeface="Work Sans"/>
                <a:sym typeface="Work Sans"/>
              </a:rPr>
              <a:t>Git y GitHub para control de versiones. Azure App Service y GitHub Actions para despliegue continuo.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9"/>
          <p:cNvSpPr/>
          <p:nvPr/>
        </p:nvSpPr>
        <p:spPr>
          <a:xfrm>
            <a:off x="550165" y="384048"/>
            <a:ext cx="9144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9A900"/>
              </a:buClr>
              <a:buSzPts val="1300"/>
              <a:buFont typeface="Calibri"/>
              <a:buNone/>
            </a:pPr>
            <a:r>
              <a:rPr b="1" i="0" lang="en-US" sz="1300" u="none" cap="none">
                <a:solidFill>
                  <a:srgbClr val="39A900"/>
                </a:solidFill>
                <a:latin typeface="Calibri"/>
                <a:ea typeface="Calibri"/>
                <a:cs typeface="Calibri"/>
                <a:sym typeface="Calibri"/>
              </a:rPr>
              <a:t>REQUISITOS DEL SISTEMA</a:t>
            </a:r>
            <a:endParaRPr b="0" i="0" sz="1300" u="non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9"/>
          <p:cNvSpPr/>
          <p:nvPr/>
        </p:nvSpPr>
        <p:spPr>
          <a:xfrm>
            <a:off x="550165" y="658368"/>
            <a:ext cx="107898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3000"/>
              <a:buFont typeface="Cambria"/>
              <a:buNone/>
            </a:pPr>
            <a:r>
              <a:rPr b="1" lang="en-US" sz="3600">
                <a:solidFill>
                  <a:srgbClr val="38AA00"/>
                </a:solidFill>
                <a:latin typeface="Work Sans"/>
                <a:ea typeface="Work Sans"/>
                <a:cs typeface="Work Sans"/>
                <a:sym typeface="Work Sans"/>
              </a:rPr>
              <a:t>Funcionalidades esenciales</a:t>
            </a:r>
            <a:endParaRPr/>
          </a:p>
        </p:txBody>
      </p:sp>
      <p:sp>
        <p:nvSpPr>
          <p:cNvPr id="379" name="Google Shape;379;p9"/>
          <p:cNvSpPr/>
          <p:nvPr/>
        </p:nvSpPr>
        <p:spPr>
          <a:xfrm>
            <a:off x="550165" y="1572768"/>
            <a:ext cx="10607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300"/>
              <a:buFont typeface="Calibri"/>
              <a:buNone/>
            </a:pPr>
            <a:r>
              <a:rPr b="0" i="1" lang="en-US" sz="1300" u="none" cap="non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Las funciones se organizaron por módulos para que cada usuario pueda realizar sus tareas según su rol.</a:t>
            </a:r>
            <a:endParaRPr b="0" i="0" sz="1300" u="non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9"/>
          <p:cNvSpPr/>
          <p:nvPr/>
        </p:nvSpPr>
        <p:spPr>
          <a:xfrm>
            <a:off x="550165" y="2103120"/>
            <a:ext cx="3505200" cy="2103000"/>
          </a:xfrm>
          <a:prstGeom prst="roundRect">
            <a:avLst>
              <a:gd fmla="val 3478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38100">
              <a:srgbClr val="1A1A1A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9"/>
          <p:cNvSpPr/>
          <p:nvPr/>
        </p:nvSpPr>
        <p:spPr>
          <a:xfrm>
            <a:off x="714757" y="2267712"/>
            <a:ext cx="457200" cy="4572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2" name="Google Shape;382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3629" y="2386584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p9"/>
          <p:cNvSpPr/>
          <p:nvPr/>
        </p:nvSpPr>
        <p:spPr>
          <a:xfrm>
            <a:off x="1281685" y="2286000"/>
            <a:ext cx="2636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9A900"/>
              </a:buClr>
              <a:buSzPts val="1050"/>
              <a:buFont typeface="Calibri"/>
              <a:buNone/>
            </a:pPr>
            <a:r>
              <a:rPr b="1" i="0" lang="en-US" sz="1050" u="none" cap="none">
                <a:solidFill>
                  <a:srgbClr val="39A900"/>
                </a:solidFill>
                <a:latin typeface="Calibri"/>
                <a:ea typeface="Calibri"/>
                <a:cs typeface="Calibri"/>
                <a:sym typeface="Calibri"/>
              </a:rPr>
              <a:t>REQ 01–03</a:t>
            </a:r>
            <a:endParaRPr b="0" i="0" sz="1050" u="non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9"/>
          <p:cNvSpPr/>
          <p:nvPr/>
        </p:nvSpPr>
        <p:spPr>
          <a:xfrm>
            <a:off x="714757" y="2834640"/>
            <a:ext cx="3176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250"/>
              <a:buFont typeface="Calibri"/>
              <a:buNone/>
            </a:pPr>
            <a:r>
              <a:rPr b="1" i="0" lang="en-US" sz="1250" u="none" cap="none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Menú y productos</a:t>
            </a:r>
            <a:endParaRPr b="0" i="0" sz="1250" u="non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9"/>
          <p:cNvSpPr/>
          <p:nvPr/>
        </p:nvSpPr>
        <p:spPr>
          <a:xfrm>
            <a:off x="714757" y="3236976"/>
            <a:ext cx="31761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000"/>
              <a:buFont typeface="Calibri"/>
              <a:buNone/>
            </a:pPr>
            <a:r>
              <a:rPr b="0" i="0" lang="en-US" sz="1000" u="none" cap="non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Consultar el menú público, sus categorías, imágenes, precios y disponibilidad.</a:t>
            </a:r>
            <a:endParaRPr b="0" i="0" sz="1000" u="non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9"/>
          <p:cNvSpPr/>
          <p:nvPr/>
        </p:nvSpPr>
        <p:spPr>
          <a:xfrm>
            <a:off x="4329685" y="2103120"/>
            <a:ext cx="3505200" cy="2103000"/>
          </a:xfrm>
          <a:prstGeom prst="roundRect">
            <a:avLst>
              <a:gd fmla="val 3478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38100">
              <a:srgbClr val="1A1A1A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9"/>
          <p:cNvSpPr/>
          <p:nvPr/>
        </p:nvSpPr>
        <p:spPr>
          <a:xfrm>
            <a:off x="4494277" y="2267712"/>
            <a:ext cx="457200" cy="4572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8" name="Google Shape;388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13149" y="2386584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p9"/>
          <p:cNvSpPr/>
          <p:nvPr/>
        </p:nvSpPr>
        <p:spPr>
          <a:xfrm>
            <a:off x="5061205" y="2286000"/>
            <a:ext cx="2636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9A900"/>
              </a:buClr>
              <a:buSzPts val="1050"/>
              <a:buFont typeface="Calibri"/>
              <a:buNone/>
            </a:pPr>
            <a:r>
              <a:rPr b="1" i="0" lang="en-US" sz="1050" u="none" cap="none">
                <a:solidFill>
                  <a:srgbClr val="39A900"/>
                </a:solidFill>
                <a:latin typeface="Calibri"/>
                <a:ea typeface="Calibri"/>
                <a:cs typeface="Calibri"/>
                <a:sym typeface="Calibri"/>
              </a:rPr>
              <a:t>REQ 04–05</a:t>
            </a:r>
            <a:endParaRPr b="0" i="0" sz="1050" u="non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9"/>
          <p:cNvSpPr/>
          <p:nvPr/>
        </p:nvSpPr>
        <p:spPr>
          <a:xfrm>
            <a:off x="4494277" y="2834640"/>
            <a:ext cx="3176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250"/>
              <a:buFont typeface="Calibri"/>
              <a:buNone/>
            </a:pPr>
            <a:r>
              <a:rPr b="1" i="0" lang="en-US" sz="1250" u="none" cap="none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Carrito y pedidos</a:t>
            </a:r>
            <a:endParaRPr b="0" i="0" sz="1250" u="non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9"/>
          <p:cNvSpPr/>
          <p:nvPr/>
        </p:nvSpPr>
        <p:spPr>
          <a:xfrm>
            <a:off x="4494277" y="3236976"/>
            <a:ext cx="31761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000"/>
              <a:buFont typeface="Calibri"/>
              <a:buNone/>
            </a:pPr>
            <a:r>
              <a:rPr b="0" i="0" lang="en-US" sz="1000" u="none" cap="non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Agregar productos, calcular el total y consultar el estado del pedido.</a:t>
            </a:r>
            <a:endParaRPr b="0" i="0" sz="1000" u="non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9"/>
          <p:cNvSpPr/>
          <p:nvPr/>
        </p:nvSpPr>
        <p:spPr>
          <a:xfrm>
            <a:off x="8109205" y="2103120"/>
            <a:ext cx="3505200" cy="2103000"/>
          </a:xfrm>
          <a:prstGeom prst="roundRect">
            <a:avLst>
              <a:gd fmla="val 3478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38100">
              <a:srgbClr val="1A1A1A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9"/>
          <p:cNvSpPr/>
          <p:nvPr/>
        </p:nvSpPr>
        <p:spPr>
          <a:xfrm>
            <a:off x="8273797" y="2267712"/>
            <a:ext cx="457200" cy="4572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4" name="Google Shape;394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392669" y="2386584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9"/>
          <p:cNvSpPr/>
          <p:nvPr/>
        </p:nvSpPr>
        <p:spPr>
          <a:xfrm>
            <a:off x="8840725" y="2286000"/>
            <a:ext cx="2636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9A900"/>
              </a:buClr>
              <a:buSzPts val="1050"/>
              <a:buFont typeface="Calibri"/>
              <a:buNone/>
            </a:pPr>
            <a:r>
              <a:rPr b="1" i="0" lang="en-US" sz="1050" u="none" cap="none">
                <a:solidFill>
                  <a:srgbClr val="39A900"/>
                </a:solidFill>
                <a:latin typeface="Calibri"/>
                <a:ea typeface="Calibri"/>
                <a:cs typeface="Calibri"/>
                <a:sym typeface="Calibri"/>
              </a:rPr>
              <a:t>REQ 06–07</a:t>
            </a:r>
            <a:endParaRPr b="0" i="0" sz="1050" u="non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9"/>
          <p:cNvSpPr/>
          <p:nvPr/>
        </p:nvSpPr>
        <p:spPr>
          <a:xfrm>
            <a:off x="8273797" y="2834640"/>
            <a:ext cx="3176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250"/>
              <a:buFont typeface="Calibri"/>
              <a:buNone/>
            </a:pPr>
            <a:r>
              <a:rPr b="1" i="0" lang="en-US" sz="1250" u="none" cap="none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Reservas y domicilios</a:t>
            </a:r>
            <a:endParaRPr b="0" i="0" sz="1250" u="non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9"/>
          <p:cNvSpPr/>
          <p:nvPr/>
        </p:nvSpPr>
        <p:spPr>
          <a:xfrm>
            <a:off x="8273797" y="3236976"/>
            <a:ext cx="31761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000"/>
              <a:buFont typeface="Calibri"/>
              <a:buNone/>
            </a:pPr>
            <a:r>
              <a:rPr b="0" i="0" lang="en-US" sz="1000" u="none" cap="non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Crear reservas y domicilios, actualizar sus estados y consultar el historial.</a:t>
            </a:r>
            <a:endParaRPr b="0" i="0" sz="1000" u="non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9"/>
          <p:cNvSpPr/>
          <p:nvPr/>
        </p:nvSpPr>
        <p:spPr>
          <a:xfrm>
            <a:off x="550165" y="4389120"/>
            <a:ext cx="3505200" cy="2103000"/>
          </a:xfrm>
          <a:prstGeom prst="roundRect">
            <a:avLst>
              <a:gd fmla="val 3478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38100">
              <a:srgbClr val="1A1A1A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9"/>
          <p:cNvSpPr/>
          <p:nvPr/>
        </p:nvSpPr>
        <p:spPr>
          <a:xfrm>
            <a:off x="714757" y="4553712"/>
            <a:ext cx="457200" cy="4572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0" name="Google Shape;400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33629" y="4672584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9"/>
          <p:cNvSpPr/>
          <p:nvPr/>
        </p:nvSpPr>
        <p:spPr>
          <a:xfrm>
            <a:off x="1281685" y="4572000"/>
            <a:ext cx="2636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9A900"/>
              </a:buClr>
              <a:buSzPts val="1050"/>
              <a:buFont typeface="Calibri"/>
              <a:buNone/>
            </a:pPr>
            <a:r>
              <a:rPr b="1" i="0" lang="en-US" sz="1050" u="none" cap="none">
                <a:solidFill>
                  <a:srgbClr val="39A900"/>
                </a:solidFill>
                <a:latin typeface="Calibri"/>
                <a:ea typeface="Calibri"/>
                <a:cs typeface="Calibri"/>
                <a:sym typeface="Calibri"/>
              </a:rPr>
              <a:t>REQ 08</a:t>
            </a:r>
            <a:endParaRPr b="0" i="0" sz="1050" u="non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9"/>
          <p:cNvSpPr/>
          <p:nvPr/>
        </p:nvSpPr>
        <p:spPr>
          <a:xfrm>
            <a:off x="714757" y="5120640"/>
            <a:ext cx="3176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250"/>
              <a:buFont typeface="Calibri"/>
              <a:buNone/>
            </a:pPr>
            <a:r>
              <a:rPr b="1" i="0" lang="en-US" sz="1250" u="none" cap="none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Administración</a:t>
            </a:r>
            <a:endParaRPr b="0" i="0" sz="1250" u="non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9"/>
          <p:cNvSpPr/>
          <p:nvPr/>
        </p:nvSpPr>
        <p:spPr>
          <a:xfrm>
            <a:off x="714757" y="5522976"/>
            <a:ext cx="31761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000"/>
              <a:buFont typeface="Calibri"/>
              <a:buNone/>
            </a:pPr>
            <a:r>
              <a:rPr b="0" i="0" lang="en-US" sz="1000" u="none" cap="non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El administrador gestiona productos, categorías, usuarios, pedidos, reservas y domicilios.</a:t>
            </a:r>
            <a:endParaRPr b="0" i="0" sz="1000" u="non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9"/>
          <p:cNvSpPr/>
          <p:nvPr/>
        </p:nvSpPr>
        <p:spPr>
          <a:xfrm>
            <a:off x="4329685" y="4389120"/>
            <a:ext cx="3505200" cy="2103000"/>
          </a:xfrm>
          <a:prstGeom prst="roundRect">
            <a:avLst>
              <a:gd fmla="val 3478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38100">
              <a:srgbClr val="1A1A1A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9"/>
          <p:cNvSpPr/>
          <p:nvPr/>
        </p:nvSpPr>
        <p:spPr>
          <a:xfrm>
            <a:off x="4494277" y="4553712"/>
            <a:ext cx="457200" cy="4572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6" name="Google Shape;406;p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13149" y="4672584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407" name="Google Shape;407;p9"/>
          <p:cNvSpPr/>
          <p:nvPr/>
        </p:nvSpPr>
        <p:spPr>
          <a:xfrm>
            <a:off x="5061205" y="4572000"/>
            <a:ext cx="2636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9A900"/>
              </a:buClr>
              <a:buSzPts val="1050"/>
              <a:buFont typeface="Calibri"/>
              <a:buNone/>
            </a:pPr>
            <a:r>
              <a:rPr b="1" i="0" lang="en-US" sz="1050" u="none" cap="none">
                <a:solidFill>
                  <a:srgbClr val="39A900"/>
                </a:solidFill>
                <a:latin typeface="Calibri"/>
                <a:ea typeface="Calibri"/>
                <a:cs typeface="Calibri"/>
                <a:sym typeface="Calibri"/>
              </a:rPr>
              <a:t>REQ 09</a:t>
            </a:r>
            <a:endParaRPr b="0" i="0" sz="1050" u="non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9"/>
          <p:cNvSpPr/>
          <p:nvPr/>
        </p:nvSpPr>
        <p:spPr>
          <a:xfrm>
            <a:off x="4494277" y="5120640"/>
            <a:ext cx="3176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250"/>
              <a:buFont typeface="Calibri"/>
              <a:buNone/>
            </a:pPr>
            <a:r>
              <a:rPr b="1" i="0" lang="en-US" sz="1250" u="none" cap="none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Acceso por roles</a:t>
            </a:r>
            <a:endParaRPr b="0" i="0" sz="1250" u="non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9"/>
          <p:cNvSpPr/>
          <p:nvPr/>
        </p:nvSpPr>
        <p:spPr>
          <a:xfrm>
            <a:off x="4494277" y="5522976"/>
            <a:ext cx="31761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000"/>
              <a:buFont typeface="Calibri"/>
              <a:buNone/>
            </a:pPr>
            <a:r>
              <a:rPr b="0" i="0" lang="en-US" sz="1000" u="none" cap="non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El sistema restringe cada módulo según el rol: cliente, administrador o repartidor.</a:t>
            </a:r>
            <a:endParaRPr b="0" i="0" sz="1000" u="non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9"/>
          <p:cNvSpPr/>
          <p:nvPr/>
        </p:nvSpPr>
        <p:spPr>
          <a:xfrm>
            <a:off x="8109205" y="4389120"/>
            <a:ext cx="3505200" cy="2103000"/>
          </a:xfrm>
          <a:prstGeom prst="roundRect">
            <a:avLst>
              <a:gd fmla="val 3478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38100">
              <a:srgbClr val="1A1A1A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9"/>
          <p:cNvSpPr/>
          <p:nvPr/>
        </p:nvSpPr>
        <p:spPr>
          <a:xfrm>
            <a:off x="8273797" y="4553712"/>
            <a:ext cx="457200" cy="4572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2" name="Google Shape;412;p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92669" y="4672584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p9"/>
          <p:cNvSpPr/>
          <p:nvPr/>
        </p:nvSpPr>
        <p:spPr>
          <a:xfrm>
            <a:off x="8840725" y="4572000"/>
            <a:ext cx="2636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9A900"/>
              </a:buClr>
              <a:buSzPts val="1050"/>
              <a:buFont typeface="Calibri"/>
              <a:buNone/>
            </a:pPr>
            <a:r>
              <a:rPr b="1" i="0" lang="en-US" sz="1050" u="none" cap="none">
                <a:solidFill>
                  <a:srgbClr val="39A900"/>
                </a:solidFill>
                <a:latin typeface="Calibri"/>
                <a:ea typeface="Calibri"/>
                <a:cs typeface="Calibri"/>
                <a:sym typeface="Calibri"/>
              </a:rPr>
              <a:t>No funcional</a:t>
            </a:r>
            <a:endParaRPr b="0" i="0" sz="1050" u="non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9"/>
          <p:cNvSpPr/>
          <p:nvPr/>
        </p:nvSpPr>
        <p:spPr>
          <a:xfrm>
            <a:off x="8273797" y="5120640"/>
            <a:ext cx="3176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250"/>
              <a:buFont typeface="Calibri"/>
              <a:buNone/>
            </a:pPr>
            <a:r>
              <a:rPr b="1" i="0" lang="en-US" sz="1250" u="none" cap="none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Seguridad y compatibilidad</a:t>
            </a:r>
            <a:endParaRPr b="0" i="0" sz="1250" u="non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9"/>
          <p:cNvSpPr/>
          <p:nvPr/>
        </p:nvSpPr>
        <p:spPr>
          <a:xfrm>
            <a:off x="8273797" y="5522976"/>
            <a:ext cx="31761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000"/>
              <a:buFont typeface="Calibri"/>
              <a:buNone/>
            </a:pPr>
            <a:r>
              <a:rPr b="0" i="0" lang="en-US" sz="1000" u="none" cap="non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Sesiones protegidas, conexión segura a la base de datos y uso desde navegadores modernos.</a:t>
            </a:r>
            <a:endParaRPr b="0" i="0" sz="1000" u="non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10"/>
          <p:cNvSpPr/>
          <p:nvPr/>
        </p:nvSpPr>
        <p:spPr>
          <a:xfrm>
            <a:off x="548640" y="658368"/>
            <a:ext cx="107898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3000"/>
              <a:buFont typeface="Cambria"/>
              <a:buNone/>
            </a:pPr>
            <a:r>
              <a:rPr b="1" lang="en-US" sz="3600">
                <a:solidFill>
                  <a:srgbClr val="38AA00"/>
                </a:solidFill>
                <a:latin typeface="Work Sans"/>
                <a:ea typeface="Work Sans"/>
                <a:cs typeface="Work Sans"/>
                <a:sym typeface="Work Sans"/>
              </a:rPr>
              <a:t>Arquitectura y tecnología</a:t>
            </a:r>
            <a:endParaRPr/>
          </a:p>
        </p:txBody>
      </p:sp>
      <p:sp>
        <p:nvSpPr>
          <p:cNvPr id="422" name="Google Shape;422;p10"/>
          <p:cNvSpPr/>
          <p:nvPr/>
        </p:nvSpPr>
        <p:spPr>
          <a:xfrm>
            <a:off x="548640" y="1645920"/>
            <a:ext cx="3538800" cy="2286000"/>
          </a:xfrm>
          <a:prstGeom prst="roundRect">
            <a:avLst>
              <a:gd fmla="val 3200" name="adj"/>
            </a:avLst>
          </a:prstGeom>
          <a:solidFill>
            <a:srgbClr val="00304D"/>
          </a:solidFill>
          <a:ln>
            <a:noFill/>
          </a:ln>
          <a:effectLst>
            <a:outerShdw blurRad="101600" rotWithShape="0" algn="bl" dir="5400000" dist="38100">
              <a:srgbClr val="1A1A1A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10"/>
          <p:cNvSpPr/>
          <p:nvPr/>
        </p:nvSpPr>
        <p:spPr>
          <a:xfrm>
            <a:off x="1975104" y="1874520"/>
            <a:ext cx="685800" cy="6858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4" name="Google Shape;424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53412" y="2052828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425" name="Google Shape;425;p10"/>
          <p:cNvSpPr/>
          <p:nvPr/>
        </p:nvSpPr>
        <p:spPr>
          <a:xfrm>
            <a:off x="685800" y="2651760"/>
            <a:ext cx="3264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DC300"/>
              </a:buClr>
              <a:buSzPts val="1300"/>
              <a:buFont typeface="Calibri"/>
              <a:buNone/>
            </a:pPr>
            <a:r>
              <a:rPr b="1" i="0" lang="en-US" sz="1300" u="none" cap="none">
                <a:solidFill>
                  <a:srgbClr val="FDC300"/>
                </a:solidFill>
                <a:latin typeface="Calibri"/>
                <a:ea typeface="Calibri"/>
                <a:cs typeface="Calibri"/>
                <a:sym typeface="Calibri"/>
              </a:rPr>
              <a:t>Frontend</a:t>
            </a:r>
            <a:endParaRPr b="0" i="0" sz="1300" u="non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0"/>
          <p:cNvSpPr/>
          <p:nvPr/>
        </p:nvSpPr>
        <p:spPr>
          <a:xfrm>
            <a:off x="685800" y="2944368"/>
            <a:ext cx="3264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HTML5, CSS3, JavaScript y Bootstrap 5</a:t>
            </a:r>
            <a:endParaRPr b="0" i="0" sz="1150" u="non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0"/>
          <p:cNvSpPr/>
          <p:nvPr/>
        </p:nvSpPr>
        <p:spPr>
          <a:xfrm>
            <a:off x="731520" y="3337560"/>
            <a:ext cx="31731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9CBD6"/>
              </a:buClr>
              <a:buSzPts val="950"/>
              <a:buFont typeface="Calibri"/>
              <a:buNone/>
            </a:pPr>
            <a:r>
              <a:rPr b="0" i="0" lang="en-US" sz="950" u="none" cap="none">
                <a:solidFill>
                  <a:srgbClr val="B9CBD6"/>
                </a:solidFill>
                <a:latin typeface="Calibri"/>
                <a:ea typeface="Calibri"/>
                <a:cs typeface="Calibri"/>
                <a:sym typeface="Calibri"/>
              </a:rPr>
              <a:t>Vistas responsivas para clientes, administración y repartidores.</a:t>
            </a:r>
            <a:endParaRPr b="0" i="0" sz="950" u="non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0"/>
          <p:cNvSpPr/>
          <p:nvPr/>
        </p:nvSpPr>
        <p:spPr>
          <a:xfrm>
            <a:off x="4133088" y="1645920"/>
            <a:ext cx="3538800" cy="2286000"/>
          </a:xfrm>
          <a:prstGeom prst="roundRect">
            <a:avLst>
              <a:gd fmla="val 3200" name="adj"/>
            </a:avLst>
          </a:prstGeom>
          <a:solidFill>
            <a:srgbClr val="00304D"/>
          </a:solidFill>
          <a:ln>
            <a:noFill/>
          </a:ln>
          <a:effectLst>
            <a:outerShdw blurRad="101600" rotWithShape="0" algn="bl" dir="5400000" dist="38100">
              <a:srgbClr val="1A1A1A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10"/>
          <p:cNvSpPr/>
          <p:nvPr/>
        </p:nvSpPr>
        <p:spPr>
          <a:xfrm>
            <a:off x="5559552" y="1874520"/>
            <a:ext cx="685800" cy="6858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0" name="Google Shape;430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37860" y="2052828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431" name="Google Shape;431;p10"/>
          <p:cNvSpPr/>
          <p:nvPr/>
        </p:nvSpPr>
        <p:spPr>
          <a:xfrm>
            <a:off x="4270248" y="2651760"/>
            <a:ext cx="3264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DC300"/>
              </a:buClr>
              <a:buSzPts val="1300"/>
              <a:buFont typeface="Calibri"/>
              <a:buNone/>
            </a:pPr>
            <a:r>
              <a:rPr b="1" i="0" lang="en-US" sz="1300" u="none" cap="none">
                <a:solidFill>
                  <a:srgbClr val="FDC300"/>
                </a:solidFill>
                <a:latin typeface="Calibri"/>
                <a:ea typeface="Calibri"/>
                <a:cs typeface="Calibri"/>
                <a:sym typeface="Calibri"/>
              </a:rPr>
              <a:t>Backend</a:t>
            </a:r>
            <a:endParaRPr b="0" i="0" sz="1300" u="non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0"/>
          <p:cNvSpPr/>
          <p:nvPr/>
        </p:nvSpPr>
        <p:spPr>
          <a:xfrm>
            <a:off x="4270248" y="2944368"/>
            <a:ext cx="3264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PHP 8 sin framework</a:t>
            </a:r>
            <a:endParaRPr b="0" i="0" sz="1150" u="non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0"/>
          <p:cNvSpPr/>
          <p:nvPr/>
        </p:nvSpPr>
        <p:spPr>
          <a:xfrm>
            <a:off x="4315968" y="3337560"/>
            <a:ext cx="31731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9CBD6"/>
              </a:buClr>
              <a:buSzPts val="950"/>
              <a:buFont typeface="Calibri"/>
              <a:buNone/>
            </a:pPr>
            <a:r>
              <a:rPr b="0" i="0" lang="en-US" sz="950" u="none" cap="none">
                <a:solidFill>
                  <a:srgbClr val="B9CBD6"/>
                </a:solidFill>
                <a:latin typeface="Calibri"/>
                <a:ea typeface="Calibri"/>
                <a:cs typeface="Calibri"/>
                <a:sym typeface="Calibri"/>
              </a:rPr>
              <a:t>Módulos para autenticación, productos, pedidos, reservas, domicilios y administración.</a:t>
            </a:r>
            <a:endParaRPr b="0" i="0" sz="950" u="non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0"/>
          <p:cNvSpPr/>
          <p:nvPr/>
        </p:nvSpPr>
        <p:spPr>
          <a:xfrm>
            <a:off x="7717536" y="1645920"/>
            <a:ext cx="3538800" cy="2286000"/>
          </a:xfrm>
          <a:prstGeom prst="roundRect">
            <a:avLst>
              <a:gd fmla="val 3200" name="adj"/>
            </a:avLst>
          </a:prstGeom>
          <a:solidFill>
            <a:srgbClr val="00304D"/>
          </a:solidFill>
          <a:ln>
            <a:noFill/>
          </a:ln>
          <a:effectLst>
            <a:outerShdw blurRad="101600" rotWithShape="0" algn="bl" dir="5400000" dist="38100">
              <a:srgbClr val="1A1A1A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10"/>
          <p:cNvSpPr/>
          <p:nvPr/>
        </p:nvSpPr>
        <p:spPr>
          <a:xfrm>
            <a:off x="9144000" y="1874520"/>
            <a:ext cx="685800" cy="6858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6" name="Google Shape;436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322308" y="2052828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437" name="Google Shape;437;p10"/>
          <p:cNvSpPr/>
          <p:nvPr/>
        </p:nvSpPr>
        <p:spPr>
          <a:xfrm>
            <a:off x="7854696" y="2651760"/>
            <a:ext cx="3264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DC300"/>
              </a:buClr>
              <a:buSzPts val="1300"/>
              <a:buFont typeface="Calibri"/>
              <a:buNone/>
            </a:pPr>
            <a:r>
              <a:rPr b="1" i="0" lang="en-US" sz="1300" u="none" cap="none">
                <a:solidFill>
                  <a:srgbClr val="FDC300"/>
                </a:solidFill>
                <a:latin typeface="Calibri"/>
                <a:ea typeface="Calibri"/>
                <a:cs typeface="Calibri"/>
                <a:sym typeface="Calibri"/>
              </a:rPr>
              <a:t>Base de datos</a:t>
            </a:r>
            <a:endParaRPr b="0" i="0" sz="1300" u="non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0"/>
          <p:cNvSpPr/>
          <p:nvPr/>
        </p:nvSpPr>
        <p:spPr>
          <a:xfrm>
            <a:off x="7854696" y="2944368"/>
            <a:ext cx="3264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MySQL / MySQLi</a:t>
            </a:r>
            <a:endParaRPr b="0" i="0" sz="1150" u="non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0"/>
          <p:cNvSpPr/>
          <p:nvPr/>
        </p:nvSpPr>
        <p:spPr>
          <a:xfrm>
            <a:off x="7900416" y="3337560"/>
            <a:ext cx="31731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9CBD6"/>
              </a:buClr>
              <a:buSzPts val="950"/>
              <a:buFont typeface="Calibri"/>
              <a:buNone/>
            </a:pPr>
            <a:r>
              <a:rPr b="0" i="0" lang="en-US" sz="950" u="none" cap="none">
                <a:solidFill>
                  <a:srgbClr val="B9CBD6"/>
                </a:solidFill>
                <a:latin typeface="Calibri"/>
                <a:ea typeface="Calibri"/>
                <a:cs typeface="Calibri"/>
                <a:sym typeface="Calibri"/>
              </a:rPr>
              <a:t>Conexión mediante variables de entorno y SSL.</a:t>
            </a:r>
            <a:endParaRPr b="0" i="0" sz="950" u="non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0"/>
          <p:cNvSpPr/>
          <p:nvPr/>
        </p:nvSpPr>
        <p:spPr>
          <a:xfrm>
            <a:off x="548640" y="4160520"/>
            <a:ext cx="5486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400"/>
              <a:buFont typeface="Calibri"/>
              <a:buNone/>
            </a:pPr>
            <a:r>
              <a:rPr b="1" i="0" lang="en-US" sz="1400" u="none" cap="none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Servicios integrados</a:t>
            </a:r>
            <a:endParaRPr b="0" i="0" sz="1400" u="non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0"/>
          <p:cNvSpPr/>
          <p:nvPr/>
        </p:nvSpPr>
        <p:spPr>
          <a:xfrm>
            <a:off x="548640" y="4572000"/>
            <a:ext cx="2480400" cy="1371600"/>
          </a:xfrm>
          <a:prstGeom prst="roundRect">
            <a:avLst>
              <a:gd fmla="val 5333" name="adj"/>
            </a:avLst>
          </a:prstGeom>
          <a:solidFill>
            <a:srgbClr val="EDF6E8"/>
          </a:solidFill>
          <a:ln>
            <a:noFill/>
          </a:ln>
          <a:effectLst>
            <a:outerShdw blurRad="101600" rotWithShape="0" algn="bl" dir="5400000" dist="38100">
              <a:srgbClr val="1A1A1A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10"/>
          <p:cNvSpPr/>
          <p:nvPr/>
        </p:nvSpPr>
        <p:spPr>
          <a:xfrm>
            <a:off x="1560195" y="4754880"/>
            <a:ext cx="457200" cy="4572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3" name="Google Shape;443;p1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679067" y="4873752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444" name="Google Shape;444;p10"/>
          <p:cNvSpPr/>
          <p:nvPr/>
        </p:nvSpPr>
        <p:spPr>
          <a:xfrm>
            <a:off x="640080" y="5285232"/>
            <a:ext cx="2297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200"/>
              <a:buFont typeface="Calibri"/>
              <a:buNone/>
            </a:pPr>
            <a:r>
              <a:rPr b="1" i="0" lang="en-US" sz="1200" u="none" cap="none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PHPMailer</a:t>
            </a:r>
            <a:endParaRPr b="0" i="0" sz="1200" u="non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0"/>
          <p:cNvSpPr/>
          <p:nvPr/>
        </p:nvSpPr>
        <p:spPr>
          <a:xfrm>
            <a:off x="640080" y="5541264"/>
            <a:ext cx="2297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950"/>
              <a:buFont typeface="Calibri"/>
              <a:buNone/>
            </a:pPr>
            <a:r>
              <a:rPr b="0" i="0" lang="en-US" sz="950" u="none" cap="non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Verificación y recuperación de contraseña por correo</a:t>
            </a:r>
            <a:endParaRPr b="0" i="0" sz="950" u="non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0"/>
          <p:cNvSpPr/>
          <p:nvPr/>
        </p:nvSpPr>
        <p:spPr>
          <a:xfrm>
            <a:off x="3257550" y="4572000"/>
            <a:ext cx="2480400" cy="1371600"/>
          </a:xfrm>
          <a:prstGeom prst="roundRect">
            <a:avLst>
              <a:gd fmla="val 5333" name="adj"/>
            </a:avLst>
          </a:prstGeom>
          <a:solidFill>
            <a:srgbClr val="EDF6E8"/>
          </a:solidFill>
          <a:ln>
            <a:noFill/>
          </a:ln>
          <a:effectLst>
            <a:outerShdw blurRad="101600" rotWithShape="0" algn="bl" dir="5400000" dist="38100">
              <a:srgbClr val="1A1A1A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10"/>
          <p:cNvSpPr/>
          <p:nvPr/>
        </p:nvSpPr>
        <p:spPr>
          <a:xfrm>
            <a:off x="4269105" y="4754880"/>
            <a:ext cx="457200" cy="4572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8" name="Google Shape;448;p1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387977" y="4873752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449" name="Google Shape;449;p10"/>
          <p:cNvSpPr/>
          <p:nvPr/>
        </p:nvSpPr>
        <p:spPr>
          <a:xfrm>
            <a:off x="3348990" y="5285232"/>
            <a:ext cx="2297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200"/>
              <a:buFont typeface="Calibri"/>
              <a:buNone/>
            </a:pPr>
            <a:r>
              <a:rPr b="1" i="0" lang="en-US" sz="1200" u="none" cap="none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GitHub Actions</a:t>
            </a:r>
            <a:endParaRPr b="0" i="0" sz="1200" u="non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0"/>
          <p:cNvSpPr/>
          <p:nvPr/>
        </p:nvSpPr>
        <p:spPr>
          <a:xfrm>
            <a:off x="3348990" y="5541264"/>
            <a:ext cx="2297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950"/>
              <a:buFont typeface="Calibri"/>
              <a:buNone/>
            </a:pPr>
            <a:r>
              <a:rPr b="0" i="0" lang="en-US" sz="950" u="none" cap="non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Despliegue continuo hacia Azure App Service</a:t>
            </a:r>
            <a:endParaRPr b="0" i="0" sz="950" u="non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0"/>
          <p:cNvSpPr/>
          <p:nvPr/>
        </p:nvSpPr>
        <p:spPr>
          <a:xfrm>
            <a:off x="5966460" y="4572000"/>
            <a:ext cx="2480400" cy="1371600"/>
          </a:xfrm>
          <a:prstGeom prst="roundRect">
            <a:avLst>
              <a:gd fmla="val 5333" name="adj"/>
            </a:avLst>
          </a:prstGeom>
          <a:solidFill>
            <a:srgbClr val="EDF6E8"/>
          </a:solidFill>
          <a:ln>
            <a:noFill/>
          </a:ln>
          <a:effectLst>
            <a:outerShdw blurRad="101600" rotWithShape="0" algn="bl" dir="5400000" dist="38100">
              <a:srgbClr val="1A1A1A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10"/>
          <p:cNvSpPr/>
          <p:nvPr/>
        </p:nvSpPr>
        <p:spPr>
          <a:xfrm>
            <a:off x="6978015" y="4754880"/>
            <a:ext cx="457200" cy="4572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53" name="Google Shape;453;p1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096887" y="4873752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10"/>
          <p:cNvSpPr/>
          <p:nvPr/>
        </p:nvSpPr>
        <p:spPr>
          <a:xfrm>
            <a:off x="6057900" y="5285232"/>
            <a:ext cx="2297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200"/>
              <a:buFont typeface="Calibri"/>
              <a:buNone/>
            </a:pPr>
            <a:r>
              <a:rPr b="1" i="0" lang="en-US" sz="1200" u="none" cap="none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Azure App Service</a:t>
            </a:r>
            <a:endParaRPr b="0" i="0" sz="1200" u="non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0"/>
          <p:cNvSpPr/>
          <p:nvPr/>
        </p:nvSpPr>
        <p:spPr>
          <a:xfrm>
            <a:off x="6057900" y="5541264"/>
            <a:ext cx="2297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950"/>
              <a:buFont typeface="Calibri"/>
              <a:buNone/>
            </a:pPr>
            <a:r>
              <a:rPr b="0" i="0" lang="en-US" sz="950" u="none" cap="non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Alojamiento de la aplicación</a:t>
            </a:r>
            <a:endParaRPr b="0" i="0" sz="950" u="non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0"/>
          <p:cNvSpPr/>
          <p:nvPr/>
        </p:nvSpPr>
        <p:spPr>
          <a:xfrm>
            <a:off x="8675370" y="4572000"/>
            <a:ext cx="2480400" cy="1371600"/>
          </a:xfrm>
          <a:prstGeom prst="roundRect">
            <a:avLst>
              <a:gd fmla="val 5333" name="adj"/>
            </a:avLst>
          </a:prstGeom>
          <a:solidFill>
            <a:srgbClr val="EDF6E8"/>
          </a:solidFill>
          <a:ln>
            <a:noFill/>
          </a:ln>
          <a:effectLst>
            <a:outerShdw blurRad="101600" rotWithShape="0" algn="bl" dir="5400000" dist="38100">
              <a:srgbClr val="1A1A1A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10"/>
          <p:cNvSpPr/>
          <p:nvPr/>
        </p:nvSpPr>
        <p:spPr>
          <a:xfrm>
            <a:off x="9686925" y="4754880"/>
            <a:ext cx="457200" cy="4572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58" name="Google Shape;458;p1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805797" y="4873752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459" name="Google Shape;459;p10"/>
          <p:cNvSpPr/>
          <p:nvPr/>
        </p:nvSpPr>
        <p:spPr>
          <a:xfrm>
            <a:off x="8766810" y="5285232"/>
            <a:ext cx="2297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200"/>
              <a:buFont typeface="Calibri"/>
              <a:buNone/>
            </a:pPr>
            <a:r>
              <a:rPr b="1" i="0" lang="en-US" sz="1200" u="none" cap="none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Capitán Ruta</a:t>
            </a:r>
            <a:endParaRPr b="0" i="0" sz="1200" u="non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0"/>
          <p:cNvSpPr/>
          <p:nvPr/>
        </p:nvSpPr>
        <p:spPr>
          <a:xfrm>
            <a:off x="8766810" y="5541264"/>
            <a:ext cx="2297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950"/>
              <a:buFont typeface="Calibri"/>
              <a:buNone/>
            </a:pPr>
            <a:r>
              <a:rPr b="0" i="0" lang="en-US" sz="950" u="none" cap="non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Sugerencias para agrupar domicilios cercanos</a:t>
            </a:r>
            <a:endParaRPr b="0" i="0" sz="950" u="non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11"/>
          <p:cNvSpPr/>
          <p:nvPr/>
        </p:nvSpPr>
        <p:spPr>
          <a:xfrm>
            <a:off x="88253" y="74266"/>
            <a:ext cx="107898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3000"/>
              <a:buFont typeface="Cambria"/>
              <a:buNone/>
            </a:pPr>
            <a:r>
              <a:rPr b="1" lang="en-US" sz="3600">
                <a:solidFill>
                  <a:srgbClr val="38AA00"/>
                </a:solidFill>
                <a:latin typeface="Work Sans"/>
                <a:ea typeface="Work Sans"/>
                <a:cs typeface="Work Sans"/>
                <a:sym typeface="Work Sans"/>
              </a:rPr>
              <a:t>Modelo lógico</a:t>
            </a:r>
            <a:endParaRPr/>
          </a:p>
        </p:txBody>
      </p:sp>
      <p:pic>
        <p:nvPicPr>
          <p:cNvPr id="467" name="Google Shape;467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6494" y="851566"/>
            <a:ext cx="10712824" cy="54862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12"/>
          <p:cNvSpPr/>
          <p:nvPr/>
        </p:nvSpPr>
        <p:spPr>
          <a:xfrm>
            <a:off x="215740" y="167266"/>
            <a:ext cx="107898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3000"/>
              <a:buFont typeface="Cambria"/>
              <a:buNone/>
            </a:pPr>
            <a:r>
              <a:rPr b="1" lang="en-US" sz="3600">
                <a:solidFill>
                  <a:srgbClr val="38AA00"/>
                </a:solidFill>
                <a:latin typeface="Work Sans"/>
                <a:ea typeface="Work Sans"/>
                <a:cs typeface="Work Sans"/>
                <a:sym typeface="Work Sans"/>
              </a:rPr>
              <a:t>Casos de uso</a:t>
            </a:r>
            <a:endParaRPr/>
          </a:p>
        </p:txBody>
      </p:sp>
      <p:pic>
        <p:nvPicPr>
          <p:cNvPr id="474" name="Google Shape;474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4033" y="944566"/>
            <a:ext cx="10192531" cy="56717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13"/>
          <p:cNvSpPr/>
          <p:nvPr/>
        </p:nvSpPr>
        <p:spPr>
          <a:xfrm>
            <a:off x="548640" y="658368"/>
            <a:ext cx="107898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3000"/>
              <a:buFont typeface="Cambria"/>
              <a:buNone/>
            </a:pPr>
            <a:r>
              <a:rPr b="1" lang="en-US" sz="3600">
                <a:solidFill>
                  <a:srgbClr val="38AA00"/>
                </a:solidFill>
                <a:latin typeface="Work Sans"/>
                <a:ea typeface="Work Sans"/>
                <a:cs typeface="Work Sans"/>
                <a:sym typeface="Work Sans"/>
              </a:rPr>
              <a:t>Pruebas de software</a:t>
            </a:r>
            <a:endParaRPr/>
          </a:p>
        </p:txBody>
      </p:sp>
      <p:sp>
        <p:nvSpPr>
          <p:cNvPr id="481" name="Google Shape;481;p13"/>
          <p:cNvSpPr/>
          <p:nvPr/>
        </p:nvSpPr>
        <p:spPr>
          <a:xfrm>
            <a:off x="548640" y="1645920"/>
            <a:ext cx="5120700" cy="4480500"/>
          </a:xfrm>
          <a:prstGeom prst="roundRect">
            <a:avLst>
              <a:gd fmla="val 1633" name="adj"/>
            </a:avLst>
          </a:prstGeom>
          <a:solidFill>
            <a:srgbClr val="EDF6E8"/>
          </a:solidFill>
          <a:ln>
            <a:noFill/>
          </a:ln>
          <a:effectLst>
            <a:outerShdw blurRad="101600" rotWithShape="0" algn="bl" dir="5400000" dist="38100">
              <a:srgbClr val="1A1A1A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p13"/>
          <p:cNvSpPr/>
          <p:nvPr/>
        </p:nvSpPr>
        <p:spPr>
          <a:xfrm>
            <a:off x="868680" y="1920240"/>
            <a:ext cx="594300" cy="5943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83" name="Google Shape;483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23214" y="2074774"/>
            <a:ext cx="285293" cy="285293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13"/>
          <p:cNvSpPr/>
          <p:nvPr/>
        </p:nvSpPr>
        <p:spPr>
          <a:xfrm>
            <a:off x="1600200" y="2011680"/>
            <a:ext cx="3657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700"/>
              <a:buFont typeface="Calibri"/>
              <a:buNone/>
            </a:pPr>
            <a:r>
              <a:rPr b="1" i="0" lang="en-US" sz="1700" u="none" cap="none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Caja blanca</a:t>
            </a:r>
            <a:endParaRPr b="0" i="0" sz="1700" u="non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13"/>
          <p:cNvSpPr/>
          <p:nvPr/>
        </p:nvSpPr>
        <p:spPr>
          <a:xfrm>
            <a:off x="868680" y="2514600"/>
            <a:ext cx="4572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92E"/>
              </a:buClr>
              <a:buSzPts val="1200"/>
              <a:buFont typeface="Calibri"/>
              <a:buNone/>
            </a:pPr>
            <a:r>
              <a:rPr b="0" i="0" lang="en-US" sz="1200" u="none" cap="none">
                <a:solidFill>
                  <a:srgbClr val="22292E"/>
                </a:solidFill>
                <a:latin typeface="Calibri"/>
                <a:ea typeface="Calibri"/>
                <a:cs typeface="Calibri"/>
                <a:sym typeface="Calibri"/>
              </a:rPr>
              <a:t>Se revisan los controladores PHP, las validaciones y el manejo de sesiones.</a:t>
            </a:r>
            <a:endParaRPr b="0" i="0" sz="1200" u="non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3"/>
          <p:cNvSpPr/>
          <p:nvPr/>
        </p:nvSpPr>
        <p:spPr>
          <a:xfrm>
            <a:off x="868680" y="3108960"/>
            <a:ext cx="4572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9A900"/>
              </a:buClr>
              <a:buSzPts val="1200"/>
              <a:buFont typeface="Calibri"/>
              <a:buNone/>
            </a:pPr>
            <a:r>
              <a:rPr b="1" i="0" lang="en-US" sz="1200" u="none" cap="none">
                <a:solidFill>
                  <a:srgbClr val="39A900"/>
                </a:solidFill>
                <a:latin typeface="Calibri"/>
                <a:ea typeface="Calibri"/>
                <a:cs typeface="Calibri"/>
                <a:sym typeface="Calibri"/>
              </a:rPr>
              <a:t>✓  Registro y verificación de usuarios</a:t>
            </a:r>
            <a:endParaRPr b="0" i="0" sz="1200" u="non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13"/>
          <p:cNvSpPr/>
          <p:nvPr/>
        </p:nvSpPr>
        <p:spPr>
          <a:xfrm>
            <a:off x="868680" y="3547872"/>
            <a:ext cx="4572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9A900"/>
              </a:buClr>
              <a:buSzPts val="1200"/>
              <a:buFont typeface="Calibri"/>
              <a:buNone/>
            </a:pPr>
            <a:r>
              <a:rPr b="1" i="0" lang="en-US" sz="1200" u="none" cap="none">
                <a:solidFill>
                  <a:srgbClr val="39A900"/>
                </a:solidFill>
                <a:latin typeface="Calibri"/>
                <a:ea typeface="Calibri"/>
                <a:cs typeface="Calibri"/>
                <a:sym typeface="Calibri"/>
              </a:rPr>
              <a:t>✓  Inicio de sesión y recuperación de contraseña</a:t>
            </a:r>
            <a:endParaRPr b="0" i="0" sz="1200" u="non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13"/>
          <p:cNvSpPr/>
          <p:nvPr/>
        </p:nvSpPr>
        <p:spPr>
          <a:xfrm>
            <a:off x="868680" y="3986784"/>
            <a:ext cx="4572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9A900"/>
              </a:buClr>
              <a:buSzPts val="1200"/>
              <a:buFont typeface="Calibri"/>
              <a:buNone/>
            </a:pPr>
            <a:r>
              <a:rPr b="1" i="0" lang="en-US" sz="1200" u="none" cap="none">
                <a:solidFill>
                  <a:srgbClr val="39A900"/>
                </a:solidFill>
                <a:latin typeface="Calibri"/>
                <a:ea typeface="Calibri"/>
                <a:cs typeface="Calibri"/>
                <a:sym typeface="Calibri"/>
              </a:rPr>
              <a:t>✓  Gestión de productos y categorías</a:t>
            </a:r>
            <a:endParaRPr b="0" i="0" sz="1200" u="non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13"/>
          <p:cNvSpPr/>
          <p:nvPr/>
        </p:nvSpPr>
        <p:spPr>
          <a:xfrm>
            <a:off x="868680" y="4425696"/>
            <a:ext cx="4572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9A900"/>
              </a:buClr>
              <a:buSzPts val="1200"/>
              <a:buFont typeface="Calibri"/>
              <a:buNone/>
            </a:pPr>
            <a:r>
              <a:rPr b="1" i="0" lang="en-US" sz="1200" u="none" cap="none">
                <a:solidFill>
                  <a:srgbClr val="39A900"/>
                </a:solidFill>
                <a:latin typeface="Calibri"/>
                <a:ea typeface="Calibri"/>
                <a:cs typeface="Calibri"/>
                <a:sym typeface="Calibri"/>
              </a:rPr>
              <a:t>✓  Gestión de pedidos, reservas y domicilios</a:t>
            </a:r>
            <a:endParaRPr b="0" i="0" sz="1200" u="non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3"/>
          <p:cNvSpPr/>
          <p:nvPr/>
        </p:nvSpPr>
        <p:spPr>
          <a:xfrm>
            <a:off x="868680" y="4864608"/>
            <a:ext cx="4572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9A900"/>
              </a:buClr>
              <a:buSzPts val="1200"/>
              <a:buFont typeface="Calibri"/>
              <a:buNone/>
            </a:pPr>
            <a:r>
              <a:rPr b="1" i="0" lang="en-US" sz="1200" u="none" cap="none">
                <a:solidFill>
                  <a:srgbClr val="39A900"/>
                </a:solidFill>
                <a:latin typeface="Calibri"/>
                <a:ea typeface="Calibri"/>
                <a:cs typeface="Calibri"/>
                <a:sym typeface="Calibri"/>
              </a:rPr>
              <a:t>✓  Asignación de domicilios y cambios de estado</a:t>
            </a:r>
            <a:endParaRPr b="0" i="0" sz="1200" u="non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13"/>
          <p:cNvSpPr/>
          <p:nvPr/>
        </p:nvSpPr>
        <p:spPr>
          <a:xfrm>
            <a:off x="5943600" y="1645920"/>
            <a:ext cx="5696700" cy="4480500"/>
          </a:xfrm>
          <a:prstGeom prst="roundRect">
            <a:avLst>
              <a:gd fmla="val 1633" name="adj"/>
            </a:avLst>
          </a:prstGeom>
          <a:solidFill>
            <a:srgbClr val="00304D"/>
          </a:solidFill>
          <a:ln>
            <a:noFill/>
          </a:ln>
          <a:effectLst>
            <a:outerShdw blurRad="101600" rotWithShape="0" algn="bl" dir="5400000" dist="38100">
              <a:srgbClr val="1A1A1A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p13"/>
          <p:cNvSpPr/>
          <p:nvPr/>
        </p:nvSpPr>
        <p:spPr>
          <a:xfrm>
            <a:off x="6263640" y="1920240"/>
            <a:ext cx="594300" cy="594300"/>
          </a:xfrm>
          <a:prstGeom prst="ellipse">
            <a:avLst/>
          </a:prstGeom>
          <a:solidFill>
            <a:srgbClr val="FDC3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93" name="Google Shape;493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18174" y="2074774"/>
            <a:ext cx="285293" cy="285293"/>
          </a:xfrm>
          <a:prstGeom prst="rect">
            <a:avLst/>
          </a:prstGeom>
          <a:noFill/>
          <a:ln>
            <a:noFill/>
          </a:ln>
        </p:spPr>
      </p:pic>
      <p:sp>
        <p:nvSpPr>
          <p:cNvPr id="494" name="Google Shape;494;p13"/>
          <p:cNvSpPr/>
          <p:nvPr/>
        </p:nvSpPr>
        <p:spPr>
          <a:xfrm>
            <a:off x="6995160" y="2011680"/>
            <a:ext cx="3657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US" sz="1700" u="non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Caja negra</a:t>
            </a:r>
            <a:endParaRPr b="0" i="0" sz="1700" u="non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13"/>
          <p:cNvSpPr/>
          <p:nvPr/>
        </p:nvSpPr>
        <p:spPr>
          <a:xfrm>
            <a:off x="6263640" y="2514600"/>
            <a:ext cx="51207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4EEF3"/>
              </a:buClr>
              <a:buSzPts val="1200"/>
              <a:buFont typeface="Calibri"/>
              <a:buNone/>
            </a:pPr>
            <a:r>
              <a:rPr b="0" i="0" lang="en-US" sz="1200" u="none" cap="none">
                <a:solidFill>
                  <a:srgbClr val="E4EEF3"/>
                </a:solidFill>
                <a:latin typeface="Calibri"/>
                <a:ea typeface="Calibri"/>
                <a:cs typeface="Calibri"/>
                <a:sym typeface="Calibri"/>
              </a:rPr>
              <a:t>Se recorren los flujos de cliente, administrador y repartidor para comprobar cada función visible.</a:t>
            </a:r>
            <a:endParaRPr b="0" i="0" sz="1200" u="non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3"/>
          <p:cNvSpPr/>
          <p:nvPr/>
        </p:nvSpPr>
        <p:spPr>
          <a:xfrm>
            <a:off x="6263640" y="3383280"/>
            <a:ext cx="5120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C300"/>
              </a:buClr>
              <a:buSzPts val="1200"/>
              <a:buFont typeface="Calibri"/>
              <a:buNone/>
            </a:pPr>
            <a:r>
              <a:rPr b="1" i="0" lang="en-US" sz="1200" u="none" cap="none">
                <a:solidFill>
                  <a:srgbClr val="FDC300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b="0" i="0" lang="en-US" sz="1200" u="non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Registro e inicio de sesión</a:t>
            </a:r>
            <a:endParaRPr b="0" i="0" sz="1200" u="non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13"/>
          <p:cNvSpPr/>
          <p:nvPr/>
        </p:nvSpPr>
        <p:spPr>
          <a:xfrm>
            <a:off x="6263640" y="3822192"/>
            <a:ext cx="5120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C300"/>
              </a:buClr>
              <a:buSzPts val="1200"/>
              <a:buFont typeface="Calibri"/>
              <a:buNone/>
            </a:pPr>
            <a:r>
              <a:rPr b="1" i="0" lang="en-US" sz="1200" u="none" cap="none">
                <a:solidFill>
                  <a:srgbClr val="FDC300"/>
                </a:solidFill>
                <a:latin typeface="Calibri"/>
                <a:ea typeface="Calibri"/>
                <a:cs typeface="Calibri"/>
                <a:sym typeface="Calibri"/>
              </a:rPr>
              <a:t>✓  Consulta del menú y carrito de compras</a:t>
            </a:r>
            <a:endParaRPr b="0" i="0" sz="1200" u="non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13"/>
          <p:cNvSpPr/>
          <p:nvPr/>
        </p:nvSpPr>
        <p:spPr>
          <a:xfrm>
            <a:off x="6263640" y="4261104"/>
            <a:ext cx="5120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C300"/>
              </a:buClr>
              <a:buSzPts val="1200"/>
              <a:buFont typeface="Calibri"/>
              <a:buNone/>
            </a:pPr>
            <a:r>
              <a:rPr b="1" i="0" lang="en-US" sz="1200" u="none" cap="none">
                <a:solidFill>
                  <a:srgbClr val="FDC300"/>
                </a:solidFill>
                <a:latin typeface="Calibri"/>
                <a:ea typeface="Calibri"/>
                <a:cs typeface="Calibri"/>
                <a:sym typeface="Calibri"/>
              </a:rPr>
              <a:t>✓  Registro de pedidos y seguimiento de estados</a:t>
            </a:r>
            <a:endParaRPr b="0" i="0" sz="1200" u="non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13"/>
          <p:cNvSpPr/>
          <p:nvPr/>
        </p:nvSpPr>
        <p:spPr>
          <a:xfrm>
            <a:off x="6263640" y="5138928"/>
            <a:ext cx="5120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C300"/>
              </a:buClr>
              <a:buSzPts val="1200"/>
              <a:buFont typeface="Calibri"/>
              <a:buNone/>
            </a:pPr>
            <a:r>
              <a:rPr b="1" i="0" lang="en-US" sz="1200" u="none" cap="none">
                <a:solidFill>
                  <a:srgbClr val="FDC300"/>
                </a:solidFill>
                <a:latin typeface="Calibri"/>
                <a:ea typeface="Calibri"/>
                <a:cs typeface="Calibri"/>
                <a:sym typeface="Calibri"/>
              </a:rPr>
              <a:t>✓  Panel administrativo, reservas y domicilios</a:t>
            </a:r>
            <a:endParaRPr b="0" i="0" sz="1200" u="non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14"/>
          <p:cNvSpPr/>
          <p:nvPr/>
        </p:nvSpPr>
        <p:spPr>
          <a:xfrm>
            <a:off x="548640" y="658368"/>
            <a:ext cx="107898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3000"/>
              <a:buFont typeface="Cambria"/>
              <a:buNone/>
            </a:pPr>
            <a:r>
              <a:rPr b="1" lang="en-US" sz="3600">
                <a:solidFill>
                  <a:srgbClr val="38AA00"/>
                </a:solidFill>
                <a:latin typeface="Work Sans"/>
                <a:ea typeface="Work Sans"/>
                <a:cs typeface="Work Sans"/>
                <a:sym typeface="Work Sans"/>
              </a:rPr>
              <a:t>Conclusiones</a:t>
            </a:r>
            <a:endParaRPr/>
          </a:p>
        </p:txBody>
      </p:sp>
      <p:sp>
        <p:nvSpPr>
          <p:cNvPr id="506" name="Google Shape;506;p14"/>
          <p:cNvSpPr/>
          <p:nvPr/>
        </p:nvSpPr>
        <p:spPr>
          <a:xfrm>
            <a:off x="6096000" y="3383280"/>
            <a:ext cx="5143500" cy="1417200"/>
          </a:xfrm>
          <a:prstGeom prst="roundRect">
            <a:avLst>
              <a:gd fmla="val 5161" name="adj"/>
            </a:avLst>
          </a:prstGeom>
          <a:solidFill>
            <a:srgbClr val="F6F6F6"/>
          </a:solidFill>
          <a:ln>
            <a:noFill/>
          </a:ln>
          <a:effectLst>
            <a:outerShdw blurRad="101600" rotWithShape="0" algn="bl" dir="5400000" dist="38100">
              <a:srgbClr val="1A1A1A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p14"/>
          <p:cNvSpPr/>
          <p:nvPr/>
        </p:nvSpPr>
        <p:spPr>
          <a:xfrm>
            <a:off x="6278880" y="3794760"/>
            <a:ext cx="594300" cy="5943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08" name="Google Shape;508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33414" y="3949294"/>
            <a:ext cx="285293" cy="285293"/>
          </a:xfrm>
          <a:prstGeom prst="rect">
            <a:avLst/>
          </a:prstGeom>
          <a:noFill/>
          <a:ln>
            <a:noFill/>
          </a:ln>
        </p:spPr>
      </p:pic>
      <p:sp>
        <p:nvSpPr>
          <p:cNvPr id="509" name="Google Shape;509;p14"/>
          <p:cNvSpPr/>
          <p:nvPr/>
        </p:nvSpPr>
        <p:spPr>
          <a:xfrm>
            <a:off x="7056120" y="3547872"/>
            <a:ext cx="4046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400"/>
              <a:buFont typeface="Calibri"/>
              <a:buNone/>
            </a:pPr>
            <a:r>
              <a:rPr b="1" lang="en-US" sz="1800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Gestión de productos</a:t>
            </a:r>
            <a:endParaRPr b="0" i="0" sz="1400" u="non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14"/>
          <p:cNvSpPr/>
          <p:nvPr/>
        </p:nvSpPr>
        <p:spPr>
          <a:xfrm>
            <a:off x="7056120" y="3886200"/>
            <a:ext cx="40461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100"/>
              <a:buFont typeface="Calibri"/>
              <a:buNone/>
            </a:pPr>
            <a:r>
              <a:rPr lang="en-US" sz="18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El panel permite administrar productos, categorías y estados de la operación.</a:t>
            </a:r>
            <a:endParaRPr b="0" i="0" sz="1800" u="none" cap="none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14"/>
          <p:cNvSpPr/>
          <p:nvPr/>
        </p:nvSpPr>
        <p:spPr>
          <a:xfrm>
            <a:off x="548640" y="1698916"/>
            <a:ext cx="10690860" cy="1417200"/>
          </a:xfrm>
          <a:prstGeom prst="roundRect">
            <a:avLst>
              <a:gd fmla="val 5161" name="adj"/>
            </a:avLst>
          </a:prstGeom>
          <a:solidFill>
            <a:srgbClr val="F6F6F6"/>
          </a:solidFill>
          <a:ln>
            <a:noFill/>
          </a:ln>
          <a:effectLst>
            <a:outerShdw blurRad="101600" rotWithShape="0" algn="bl" dir="5400000" dist="38100">
              <a:srgbClr val="1A1A1A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p14"/>
          <p:cNvSpPr/>
          <p:nvPr/>
        </p:nvSpPr>
        <p:spPr>
          <a:xfrm>
            <a:off x="731520" y="2110396"/>
            <a:ext cx="594300" cy="5943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13" name="Google Shape;513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6054" y="2264930"/>
            <a:ext cx="285293" cy="285293"/>
          </a:xfrm>
          <a:prstGeom prst="rect">
            <a:avLst/>
          </a:prstGeom>
          <a:noFill/>
          <a:ln>
            <a:noFill/>
          </a:ln>
        </p:spPr>
      </p:pic>
      <p:sp>
        <p:nvSpPr>
          <p:cNvPr id="514" name="Google Shape;514;p14"/>
          <p:cNvSpPr/>
          <p:nvPr/>
        </p:nvSpPr>
        <p:spPr>
          <a:xfrm>
            <a:off x="1508760" y="1863508"/>
            <a:ext cx="4046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400"/>
              <a:buFont typeface="Calibri"/>
              <a:buNone/>
            </a:pPr>
            <a:r>
              <a:rPr b="1" lang="en-US" sz="1800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Creación de aplicación web</a:t>
            </a:r>
            <a:endParaRPr b="0" i="0" sz="1400" u="non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14"/>
          <p:cNvSpPr/>
          <p:nvPr/>
        </p:nvSpPr>
        <p:spPr>
          <a:xfrm>
            <a:off x="1508760" y="2201836"/>
            <a:ext cx="959346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100"/>
              <a:buFont typeface="Calibri"/>
              <a:buNone/>
            </a:pPr>
            <a:r>
              <a:rPr b="0" i="0" lang="en-US" sz="1800" u="none" cap="non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La Pesquera reúne en una sola aplicación las funciones esenciales de un restaurante: menú, pedidos, reservas, domicilios y administración.</a:t>
            </a:r>
            <a:endParaRPr/>
          </a:p>
        </p:txBody>
      </p:sp>
      <p:sp>
        <p:nvSpPr>
          <p:cNvPr id="516" name="Google Shape;516;p14"/>
          <p:cNvSpPr/>
          <p:nvPr/>
        </p:nvSpPr>
        <p:spPr>
          <a:xfrm>
            <a:off x="548640" y="3383280"/>
            <a:ext cx="5143500" cy="1417200"/>
          </a:xfrm>
          <a:prstGeom prst="roundRect">
            <a:avLst>
              <a:gd fmla="val 5161" name="adj"/>
            </a:avLst>
          </a:prstGeom>
          <a:solidFill>
            <a:srgbClr val="F6F6F6"/>
          </a:solidFill>
          <a:ln>
            <a:noFill/>
          </a:ln>
          <a:effectLst>
            <a:outerShdw blurRad="101600" rotWithShape="0" algn="bl" dir="5400000" dist="38100">
              <a:srgbClr val="1A1A1A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14"/>
          <p:cNvSpPr/>
          <p:nvPr/>
        </p:nvSpPr>
        <p:spPr>
          <a:xfrm>
            <a:off x="731520" y="3794760"/>
            <a:ext cx="594300" cy="594300"/>
          </a:xfrm>
          <a:prstGeom prst="ellipse">
            <a:avLst/>
          </a:prstGeom>
          <a:solidFill>
            <a:srgbClr val="39A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18" name="Google Shape;518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86054" y="3949294"/>
            <a:ext cx="285293" cy="285293"/>
          </a:xfrm>
          <a:prstGeom prst="rect">
            <a:avLst/>
          </a:prstGeom>
          <a:noFill/>
          <a:ln>
            <a:noFill/>
          </a:ln>
        </p:spPr>
      </p:pic>
      <p:sp>
        <p:nvSpPr>
          <p:cNvPr id="519" name="Google Shape;519;p14"/>
          <p:cNvSpPr/>
          <p:nvPr/>
        </p:nvSpPr>
        <p:spPr>
          <a:xfrm>
            <a:off x="1508760" y="3547872"/>
            <a:ext cx="4046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400"/>
              <a:buFont typeface="Calibri"/>
              <a:buNone/>
            </a:pPr>
            <a:r>
              <a:rPr b="1" i="0" lang="en-US" sz="1400" u="none" cap="none">
                <a:solidFill>
                  <a:srgbClr val="00304D"/>
                </a:solidFill>
                <a:latin typeface="Calibri"/>
                <a:ea typeface="Calibri"/>
                <a:cs typeface="Calibri"/>
                <a:sym typeface="Calibri"/>
              </a:rPr>
              <a:t>Experiencia de usuario</a:t>
            </a:r>
            <a:endParaRPr b="0" i="0" sz="1400" u="non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14"/>
          <p:cNvSpPr/>
          <p:nvPr/>
        </p:nvSpPr>
        <p:spPr>
          <a:xfrm>
            <a:off x="1508760" y="3886200"/>
            <a:ext cx="40461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670"/>
              </a:buClr>
              <a:buSzPts val="1100"/>
              <a:buFont typeface="Calibri"/>
              <a:buNone/>
            </a:pPr>
            <a:r>
              <a:rPr b="0" i="0" lang="en-US" sz="1800" u="none" cap="non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La interfaz separa las tareas por rol y ofrece seguimiento de reservas, pedidos y domicilios.</a:t>
            </a:r>
            <a:endParaRPr/>
          </a:p>
        </p:txBody>
      </p:sp>
      <p:sp>
        <p:nvSpPr>
          <p:cNvPr id="521" name="Google Shape;521;p14"/>
          <p:cNvSpPr/>
          <p:nvPr/>
        </p:nvSpPr>
        <p:spPr>
          <a:xfrm>
            <a:off x="548640" y="5257800"/>
            <a:ext cx="10607100" cy="914400"/>
          </a:xfrm>
          <a:prstGeom prst="roundRect">
            <a:avLst>
              <a:gd fmla="val 8000" name="adj"/>
            </a:avLst>
          </a:prstGeom>
          <a:solidFill>
            <a:srgbClr val="FFF3D6"/>
          </a:solidFill>
          <a:ln>
            <a:noFill/>
          </a:ln>
          <a:effectLst>
            <a:outerShdw blurRad="101600" rotWithShape="0" algn="bl" dir="5400000" dist="38100">
              <a:srgbClr val="1A1A1A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p14"/>
          <p:cNvSpPr/>
          <p:nvPr/>
        </p:nvSpPr>
        <p:spPr>
          <a:xfrm>
            <a:off x="822960" y="52578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04D"/>
              </a:buClr>
              <a:buSzPts val="1250"/>
              <a:buFont typeface="Calibri"/>
              <a:buNone/>
            </a:pPr>
            <a:r>
              <a:t/>
            </a:r>
            <a:endParaRPr b="0" i="0" sz="1250" u="non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14"/>
          <p:cNvSpPr/>
          <p:nvPr/>
        </p:nvSpPr>
        <p:spPr>
          <a:xfrm>
            <a:off x="0" y="5191125"/>
            <a:ext cx="12192000" cy="16668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15"/>
          <p:cNvSpPr/>
          <p:nvPr/>
        </p:nvSpPr>
        <p:spPr>
          <a:xfrm>
            <a:off x="1143000" y="2000250"/>
            <a:ext cx="990600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2A900"/>
              </a:buClr>
              <a:buSzPts val="3600"/>
              <a:buFont typeface="Work Sans"/>
              <a:buNone/>
            </a:pPr>
            <a:r>
              <a:rPr b="1" lang="en-US" sz="3600">
                <a:solidFill>
                  <a:srgbClr val="32A900"/>
                </a:solidFill>
                <a:latin typeface="Work Sans"/>
                <a:ea typeface="Work Sans"/>
                <a:cs typeface="Work Sans"/>
                <a:sym typeface="Work Sans"/>
              </a:rPr>
              <a:t>La Pesquera</a:t>
            </a:r>
            <a:endParaRPr/>
          </a:p>
        </p:txBody>
      </p:sp>
      <p:sp>
        <p:nvSpPr>
          <p:cNvPr id="530" name="Google Shape;530;p15"/>
          <p:cNvSpPr/>
          <p:nvPr/>
        </p:nvSpPr>
        <p:spPr>
          <a:xfrm>
            <a:off x="1143000" y="2857500"/>
            <a:ext cx="99060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3B5A"/>
              </a:buClr>
              <a:buSzPts val="2025"/>
              <a:buFont typeface="Work Sans"/>
              <a:buNone/>
            </a:pPr>
            <a:r>
              <a:rPr b="0" lang="en-US" sz="2025">
                <a:solidFill>
                  <a:srgbClr val="063B5A"/>
                </a:solidFill>
                <a:latin typeface="Work Sans"/>
                <a:ea typeface="Work Sans"/>
                <a:cs typeface="Work Sans"/>
                <a:sym typeface="Work Sans"/>
              </a:rPr>
              <a:t>Sistema web para la gestión de restaurante</a:t>
            </a:r>
            <a:endParaRPr/>
          </a:p>
        </p:txBody>
      </p:sp>
      <p:sp>
        <p:nvSpPr>
          <p:cNvPr id="531" name="Google Shape;531;p15"/>
          <p:cNvSpPr/>
          <p:nvPr/>
        </p:nvSpPr>
        <p:spPr>
          <a:xfrm>
            <a:off x="1143000" y="4000500"/>
            <a:ext cx="9906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3B5A"/>
              </a:buClr>
              <a:buSzPts val="2550"/>
              <a:buFont typeface="Work Sans"/>
              <a:buNone/>
            </a:pPr>
            <a:r>
              <a:rPr b="1" lang="en-US" sz="2550">
                <a:solidFill>
                  <a:srgbClr val="063B5A"/>
                </a:solidFill>
                <a:latin typeface="Work Sans"/>
                <a:ea typeface="Work Sans"/>
                <a:cs typeface="Work Sans"/>
                <a:sym typeface="Work Sans"/>
              </a:rPr>
              <a:t>Gracias</a:t>
            </a:r>
            <a:endParaRPr/>
          </a:p>
        </p:txBody>
      </p:sp>
      <p:sp>
        <p:nvSpPr>
          <p:cNvPr id="532" name="Google Shape;532;p15"/>
          <p:cNvSpPr/>
          <p:nvPr/>
        </p:nvSpPr>
        <p:spPr>
          <a:xfrm>
            <a:off x="1143000" y="4762500"/>
            <a:ext cx="99060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3B5A"/>
              </a:buClr>
              <a:buSzPts val="1500"/>
              <a:buFont typeface="Work Sans"/>
              <a:buNone/>
            </a:pPr>
            <a:r>
              <a:rPr b="0" lang="en-US" sz="1500">
                <a:solidFill>
                  <a:srgbClr val="063B5A"/>
                </a:solidFill>
                <a:latin typeface="Work Sans"/>
                <a:ea typeface="Work Sans"/>
                <a:cs typeface="Work Sans"/>
                <a:sym typeface="Work Sans"/>
              </a:rPr>
              <a:t>Samuel Díaz García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2013 - Tema de 2022">
  <a:themeElements>
    <a:clrScheme name="Personalizado 1">
      <a:dk1>
        <a:srgbClr val="39A900"/>
      </a:dk1>
      <a:lt1>
        <a:srgbClr val="FFFFFF"/>
      </a:lt1>
      <a:dk2>
        <a:srgbClr val="00304D"/>
      </a:dk2>
      <a:lt2>
        <a:srgbClr val="F6F6F6"/>
      </a:lt2>
      <a:accent1>
        <a:srgbClr val="007832"/>
      </a:accent1>
      <a:accent2>
        <a:srgbClr val="71127A"/>
      </a:accent2>
      <a:accent3>
        <a:srgbClr val="50E5F9"/>
      </a:accent3>
      <a:accent4>
        <a:srgbClr val="FDC300"/>
      </a:accent4>
      <a:accent5>
        <a:srgbClr val="000000"/>
      </a:accent5>
      <a:accent6>
        <a:srgbClr val="70AD47"/>
      </a:accent6>
      <a:hlink>
        <a:srgbClr val="0563C1"/>
      </a:hlink>
      <a:folHlink>
        <a:srgbClr val="71127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2013 - Tema de 2022">
  <a:themeElements>
    <a:clrScheme name="Personalizado 1">
      <a:dk1>
        <a:srgbClr val="39A900"/>
      </a:dk1>
      <a:lt1>
        <a:srgbClr val="FFFFFF"/>
      </a:lt1>
      <a:dk2>
        <a:srgbClr val="00304D"/>
      </a:dk2>
      <a:lt2>
        <a:srgbClr val="F6F6F6"/>
      </a:lt2>
      <a:accent1>
        <a:srgbClr val="007832"/>
      </a:accent1>
      <a:accent2>
        <a:srgbClr val="71127A"/>
      </a:accent2>
      <a:accent3>
        <a:srgbClr val="50E5F9"/>
      </a:accent3>
      <a:accent4>
        <a:srgbClr val="FDC300"/>
      </a:accent4>
      <a:accent5>
        <a:srgbClr val="000000"/>
      </a:accent5>
      <a:accent6>
        <a:srgbClr val="70AD47"/>
      </a:accent6>
      <a:hlink>
        <a:srgbClr val="0563C1"/>
      </a:hlink>
      <a:folHlink>
        <a:srgbClr val="71127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2026-09-17T01:32:12Z</dcterms:created>
  <dc:creator>Walnut Exporter</dc:creator>
</cp:coreProperties>
</file>